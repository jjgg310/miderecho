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8add26d1-4f26-a711-da49-6d8d96822478}">
          <p14:sldIdLst>
            <p14:sldId id="256"/>
            <p14:sldId id="257"/>
          </p14:sldIdLst>
        </p14:section>
        <p14:section name="El problema" id="{3b7098af-4932-683d-c22d-75ecfecc23e1}">
          <p14:sldIdLst>
            <p14:sldId id="258"/>
            <p14:sldId id="259"/>
            <p14:sldId id="260"/>
          </p14:sldIdLst>
        </p14:section>
        <p14:section name="La solución" id="{ae501a45-452b-2b11-2ba7-581012f0be5d}">
          <p14:sldIdLst>
            <p14:sldId id="261"/>
            <p14:sldId id="262"/>
            <p14:sldId id="263"/>
          </p14:sldIdLst>
        </p14:section>
        <p14:section name="Así funciona" id="{91efe274-e137-140c-4504-8278cdcce967}">
          <p14:sldIdLst>
            <p14:sldId id="264"/>
            <p14:sldId id="265"/>
            <p14:sldId id="266"/>
            <p14:sldId id="267"/>
            <p14:sldId id="268"/>
            <p14:sldId id="269"/>
          </p14:sldIdLst>
        </p14:section>
        <p14:section name="Por qué funciona" id="{bfe4b230-6527-647a-2575-61572f2d1ba8}">
          <p14:sldIdLst>
            <p14:sldId id="270"/>
            <p14:sldId id="271"/>
            <p14:sldId id="272"/>
            <p14:sldId id="273"/>
            <p14:sldId id="274"/>
          </p14:sldIdLst>
        </p14:section>
        <p14:section name="Cierre" id="{fac3e709-179b-4a49-dad5-c7d6343251c6}">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Somos MiDerecho. Nuestra idea es simple: la justicia empieza por entender los derechos. Les vamos a mostrar cómo una persona en una vereda puede pedir, enviar y hacer seguimiento a un derecho de petición o una tutela sin abogado y sin viajar.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Fotos: cambiar cada búho por la foto del Canva (clic derecho &gt; Cambiar imagen).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barreras: la ley está escrita para abogados, la señal es mala y, aunque casi todos tienen celular, en el campo se usa para llamar más que para chatear. Por eso MiDerecho habla, funciona sin internet y explica en palabras sencillas.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no es que no haya jueces: es la distancia. Y cuando la gente pide algo a una entidad, muchas veces no le responden. En 2025 hubo 432.658 tutelas solo porque una entidad no respondió un derecho de petición.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Nuestro usuario de entrada son las familias campesinas, y llegamos a ellas a través de quien ya las ayuda: la persona líder de la Junta de Acción Comunal. Diseñamos para celular compartido y para quien no lee.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MiDerecho son dos apps en una. Sin internet, cualquiera puede conocer sus derechos con historietas y voz. Con internet, un ayudante con IA escucha el caso, orienta, arma el documento, lo envía y sigue el plazo.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Aplicamos Legal Design: nada de lenguaje de abogado. Cada derecho tiene una historieta, una explicación sencilla, qué dice la ley con su fuente y todo se puede escuchar.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persona no necesita saber de leyes: identifica el problema, lo cuenta, entiende qué derecho tiene y actúa. Ahora les mostramos cada paso con un caso real: una EPS que no da una cita.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persona cuenta lo que le pasa como se lo contaría a un vecino. Si dice su cédula, el filtro la cambia por [número] antes de que salga del celular.
El video arranca solo al llegar a la lámina (dura unos 7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IA entiende y clasifica, pero lo jurídico sale de contenido fijo que revisa un consultorio jurídico. Así evitamos que la IA invente.
El video arranca solo al llegar a la lámina (dura unos 7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documento sale de plantillas fijas. Elegimos petición, tutela y reclamo de servicios porque son los que resuelven los problemas rurales más comunes y no necesitan abogado.
El video arranca solo al llegar a la lámina (dura unos 7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ahorramos el viaje: la ley permite radicar por cualquier medio idóneo, y las alcaldías publican su correo. La persona no gasta el día ni el pasaje.
El video arranca solo al llegar a la lámina (dura unos 7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Nadie más en Colombia hace esto: contar el plazo y avisar. El SMS dice solo el código del caso y la fecha, porque el celular puede ser compartido.
El video arranca solo al llegar a la lámina (dura unos 7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no responden, el siguiente paso ya está listo. Y vale la pena: el 73% de las tutelas por derecho de petición terminan a favor de la persona.
El video arranca solo al llegar a la lámina (dura unos 7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esencial funciona sin internet. Cuando hay señal, se suman la voz, el envío y los avisos. Y si la IA falla a mitad de camino, la app pasa sola a un modo básico: el demo no se cae.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confianza es el producto. No nos llamamos abogados, lo jurídico es contenido fijo y validado, los datos personales nunca llegan a la IA y, si hay riesgo para la persona, la app se detiene y la lleva a quien puede protegerla.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Revisamos 43 productos. Hay quien orienta y hay quien genera documentos, pero nadie envía el documento ni sigue el plazo. Esa es nuestra diferencia.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funciona en el mundo es una persona de confianza apoyada por tecnología, no un bot solo. Por eso llegamos con los líderes de las Juntas de Acción Comunal, con un kit sencillo y cuidando su seguridad.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campesino no paga. Paga el Estado, que por ley tiene que llevar la justicia al campo con tecnología. Con promotores pagados, un caso cuesta menos que una consulta privada.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La app está en línea: pueden probarla en miderecho-two.vercel.app.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0" y="1874520"/>
            <a:ext cx="4206240" cy="1920240"/>
          </a:xfrm>
          <a:prstGeom prst="rect">
            <a:avLst/>
          </a:prstGeom>
          <a:noFill/>
          <a:ln/>
        </p:spPr>
        <p:txBody>
          <a:bodyPr wrap="square" rtlCol="0"/>
          <a:lstStyle>
            <a:lvl1pPr algn="l" indent="0" marL="0">
              <a:buNone/>
              <a:defRPr lang="en-US" sz="4000" b="1" dirty="0">
                <a:solidFill>
                  <a:schemeClr val="tx1"/>
                </a:solidFill>
                <a:latin typeface="Calibri" pitchFamily="34" charset="0"/>
                <a:ea typeface="Calibri" pitchFamily="34" charset="-122"/>
                <a:cs typeface="Calibri"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97280"/>
          </a:xfrm>
          <a:prstGeom prst="rect">
            <a:avLst/>
          </a:prstGeom>
          <a:noFill/>
          <a:ln/>
        </p:spPr>
        <p:txBody>
          <a:bodyPr wrap="square" rtlCol="0"/>
          <a:lstStyle>
            <a:lvl1pPr algn="ctr" indent="0" marL="0">
              <a:buNone/>
              <a:defRPr lang="en-US" sz="3000" b="1" dirty="0">
                <a:solidFill>
                  <a:schemeClr val="tx1"/>
                </a:solidFill>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5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949440" cy="1828800"/>
          </a:xfrm>
          <a:prstGeom prst="rect">
            <a:avLst/>
          </a:prstGeom>
          <a:noFill/>
          <a:ln/>
        </p:spPr>
        <p:txBody>
          <a:bodyPr wrap="square" rtlCol="0"/>
          <a:lstStyle>
            <a:lvl1pPr algn="l" indent="0" marL="0">
              <a:buNone/>
              <a:defRPr lang="en-US" sz="4400" b="1" dirty="0">
                <a:solidFill>
                  <a:schemeClr val="bg2"/>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5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video" Target="../media/media-9-1.mp4"/><Relationship Id="rId2" Type="http://schemas.microsoft.com/office/2007/relationships/media" Target="../media/media-9-1.mp4"/><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video" Target="../media/media-11-1.mp4"/><Relationship Id="rId2" Type="http://schemas.microsoft.com/office/2007/relationships/media" Target="../media/media-11-1.mp4"/><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video" Target="../media/media-12-1.mp4"/><Relationship Id="rId2" Type="http://schemas.microsoft.com/office/2007/relationships/media" Target="../media/media-12-1.mp4"/><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video" Target="../media/media-13-1.mp4"/><Relationship Id="rId2" Type="http://schemas.microsoft.com/office/2007/relationships/media" Target="../media/media-13-1.mp4"/><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video" Target="../media/media-14-1.mp4"/><Relationship Id="rId2" Type="http://schemas.microsoft.com/office/2007/relationships/media" Target="../media/media-14-1.mp4"/><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miderecho-two.vercel.app" TargetMode="External"/><Relationship Id="rId2" Type="http://schemas.openxmlformats.org/officeDocument/2006/relationships/image" Target="../media/image-20-1.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Logo de MiDerecho: balanza sobre colinas">    </p:cNvPr>
          <p:cNvPicPr>
            <a:picLocks noChangeAspect="1"/>
          </p:cNvPicPr>
          <p:nvPr/>
        </p:nvPicPr>
        <p:blipFill>
          <a:blip r:embed="rId1"/>
          <a:stretch>
            <a:fillRect/>
          </a:stretch>
        </p:blipFill>
        <p:spPr>
          <a:xfrm>
            <a:off x="640080" y="1417320"/>
            <a:ext cx="3749040" cy="3749040"/>
          </a:xfrm>
          <a:prstGeom prst="rect">
            <a:avLst/>
          </a:prstGeom>
        </p:spPr>
      </p:pic>
      <p:sp>
        <p:nvSpPr>
          <p:cNvPr id="3" name="Text 0"/>
          <p:cNvSpPr/>
          <p:nvPr>
            <p:ph idx="100" type="title" hasCustomPrompt="1"/>
          </p:nvPr>
        </p:nvSpPr>
        <p:spPr>
          <a:xfrm>
            <a:off x="4572000" y="1874520"/>
            <a:ext cx="4206240" cy="1920240"/>
          </a:xfrm>
          <a:prstGeom prst="rect">
            <a:avLst/>
          </a:prstGeom>
          <a:noFill/>
          <a:ln/>
        </p:spPr>
        <p:txBody>
          <a:bodyPr wrap="square" lIns="0" tIns="0" rIns="0" bIns="0" rtlCol="0" anchor="b"/>
          <a:lstStyle/>
          <a:p>
            <a:pPr algn="l" indent="0" marL="0">
              <a:buNone/>
            </a:pPr>
            <a:r>
              <a:rPr lang="en-US" sz="4000" b="1" dirty="0">
                <a:solidFill>
                  <a:schemeClr val="tx1"/>
                </a:solidFill>
                <a:latin typeface="Calibri" pitchFamily="34" charset="0"/>
                <a:ea typeface="Calibri" pitchFamily="34" charset="-122"/>
                <a:cs typeface="Calibri" pitchFamily="34" charset="-120"/>
              </a:rPr>
              <a:t>La justicia empieza por entender tus derechos</a:t>
            </a:r>
            <a:endParaRPr lang="en-US" sz="4000" dirty="0"/>
          </a:p>
        </p:txBody>
      </p:sp>
      <p:sp>
        <p:nvSpPr>
          <p:cNvPr id="4" name="Text 1"/>
          <p:cNvSpPr txBox="1"/>
          <p:nvPr/>
        </p:nvSpPr>
        <p:spPr>
          <a:xfrm>
            <a:off x="4572000" y="3977640"/>
            <a:ext cx="4023360" cy="822960"/>
          </a:xfrm>
          <a:prstGeom prst="rect">
            <a:avLst/>
          </a:prstGeom>
          <a:noFill/>
          <a:ln/>
        </p:spPr>
        <p:txBody>
          <a:bodyPr wrap="square" lIns="0" tIns="0" rIns="0" bIns="0" rtlCol="0" anchor="t"/>
          <a:lstStyle/>
          <a:p>
            <a:pPr indent="0" marL="0">
              <a:buNone/>
            </a:pPr>
            <a:r>
              <a:rPr lang="en-US" sz="1800" dirty="0">
                <a:solidFill>
                  <a:srgbClr val="6B675F"/>
                </a:solidFill>
              </a:rPr>
              <a:t>Orientación jurídica para el campo colombiano, con o sin internet.</a:t>
            </a:r>
            <a:endParaRPr lang="en-US" sz="1800" dirty="0"/>
          </a:p>
        </p:txBody>
      </p:sp>
      <p:sp>
        <p:nvSpPr>
          <p:cNvPr id="5" name="Text 2"/>
          <p:cNvSpPr txBox="1"/>
          <p:nvPr/>
        </p:nvSpPr>
        <p:spPr>
          <a:xfrm>
            <a:off x="640080" y="6172200"/>
            <a:ext cx="8229600" cy="320040"/>
          </a:xfrm>
          <a:prstGeom prst="rect">
            <a:avLst/>
          </a:prstGeom>
          <a:noFill/>
          <a:ln/>
        </p:spPr>
        <p:txBody>
          <a:bodyPr wrap="square" lIns="0" tIns="0" rIns="0" bIns="0" rtlCol="0" anchor="t"/>
          <a:lstStyle/>
          <a:p>
            <a:pPr indent="0" marL="0">
              <a:buNone/>
            </a:pPr>
            <a:r>
              <a:rPr lang="en-US" sz="1200" dirty="0">
                <a:solidFill>
                  <a:srgbClr val="6B675F"/>
                </a:solidFill>
              </a:rPr>
              <a:t>Hackathon de acceso a la justicia · Reto 2: justicia rural con tecnología de bajo consumo de datos</a:t>
            </a:r>
            <a:endParaRPr lang="en-US" sz="1200" dirty="0"/>
          </a:p>
        </p:txBody>
      </p:sp>
      <p:pic>
        <p:nvPicPr>
          <p:cNvPr id="6" name="Image 1" descr="Búho de MiDerecho (saludo)">    </p:cNvPr>
          <p:cNvPicPr>
            <a:picLocks noChangeAspect="1"/>
          </p:cNvPicPr>
          <p:nvPr/>
        </p:nvPicPr>
        <p:blipFill>
          <a:blip r:embed="rId2"/>
          <a:srcRect l="0" r="4000" t="0" b="0"/>
          <a:stretch/>
        </p:blipFill>
        <p:spPr>
          <a:xfrm>
            <a:off x="8595360" y="2331720"/>
            <a:ext cx="3264669" cy="4023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97280"/>
          </a:xfrm>
          <a:prstGeom prst="rect">
            <a:avLst/>
          </a:prstGeom>
          <a:noFill/>
          <a:ln/>
        </p:spPr>
        <p:txBody>
          <a:bodyPr wrap="square" lIns="0" tIns="0" rIns="0" bIns="0" rtlCol="0" anchor="ctr"/>
          <a:lstStyle/>
          <a:p>
            <a:pPr algn="ctr" indent="0" marL="0">
              <a:buNone/>
            </a:pPr>
            <a:r>
              <a:rPr lang="en-US" sz="3000" b="1" dirty="0">
                <a:solidFill>
                  <a:schemeClr val="tx1"/>
                </a:solidFill>
              </a:rPr>
              <a:t>NUESTRO EQUIPO</a:t>
            </a:r>
            <a:endParaRPr lang="en-US" sz="3000" dirty="0"/>
          </a:p>
        </p:txBody>
      </p:sp>
      <p:pic>
        <p:nvPicPr>
          <p:cNvPr id="3" name="Image 0" descr="Búho de MiDerecho (avatar-curioso)">    </p:cNvPr>
          <p:cNvPicPr>
            <a:picLocks noChangeAspect="1"/>
          </p:cNvPicPr>
          <p:nvPr/>
        </p:nvPicPr>
        <p:blipFill>
          <a:blip r:embed="rId1"/>
          <a:stretch>
            <a:fillRect/>
          </a:stretch>
        </p:blipFill>
        <p:spPr>
          <a:xfrm>
            <a:off x="1130001" y="1920240"/>
            <a:ext cx="2494878" cy="2103120"/>
          </a:xfrm>
          <a:prstGeom prst="rect">
            <a:avLst/>
          </a:prstGeom>
        </p:spPr>
      </p:pic>
      <p:sp>
        <p:nvSpPr>
          <p:cNvPr id="4" name="Text 1"/>
          <p:cNvSpPr txBox="1"/>
          <p:nvPr/>
        </p:nvSpPr>
        <p:spPr>
          <a:xfrm>
            <a:off x="731520" y="4251960"/>
            <a:ext cx="3291840" cy="411480"/>
          </a:xfrm>
          <a:prstGeom prst="rect">
            <a:avLst/>
          </a:prstGeom>
          <a:noFill/>
          <a:ln/>
        </p:spPr>
        <p:txBody>
          <a:bodyPr wrap="square" lIns="0" tIns="0" rIns="0" bIns="0" rtlCol="0" anchor="t"/>
          <a:lstStyle/>
          <a:p>
            <a:pPr algn="ctr" indent="0" marL="0">
              <a:buNone/>
            </a:pPr>
            <a:r>
              <a:rPr lang="en-US" sz="2200" b="1" dirty="0">
                <a:solidFill>
                  <a:schemeClr val="tx1"/>
                </a:solidFill>
              </a:rPr>
              <a:t>Valentina Quintero</a:t>
            </a:r>
            <a:endParaRPr lang="en-US" sz="2200" dirty="0"/>
          </a:p>
        </p:txBody>
      </p:sp>
      <p:pic>
        <p:nvPicPr>
          <p:cNvPr id="5" name="Image 1" descr="Búho de MiDerecho (avatar-amigable)">    </p:cNvPr>
          <p:cNvPicPr>
            <a:picLocks noChangeAspect="1"/>
          </p:cNvPicPr>
          <p:nvPr/>
        </p:nvPicPr>
        <p:blipFill>
          <a:blip r:embed="rId2"/>
          <a:stretch>
            <a:fillRect/>
          </a:stretch>
        </p:blipFill>
        <p:spPr>
          <a:xfrm>
            <a:off x="4931186" y="1920240"/>
            <a:ext cx="2335723" cy="2103120"/>
          </a:xfrm>
          <a:prstGeom prst="rect">
            <a:avLst/>
          </a:prstGeom>
        </p:spPr>
      </p:pic>
      <p:sp>
        <p:nvSpPr>
          <p:cNvPr id="6" name="Text 2"/>
          <p:cNvSpPr txBox="1"/>
          <p:nvPr/>
        </p:nvSpPr>
        <p:spPr>
          <a:xfrm>
            <a:off x="4453128" y="4251960"/>
            <a:ext cx="3291840" cy="411480"/>
          </a:xfrm>
          <a:prstGeom prst="rect">
            <a:avLst/>
          </a:prstGeom>
          <a:noFill/>
          <a:ln/>
        </p:spPr>
        <p:txBody>
          <a:bodyPr wrap="square" lIns="0" tIns="0" rIns="0" bIns="0" rtlCol="0" anchor="t"/>
          <a:lstStyle/>
          <a:p>
            <a:pPr algn="ctr" indent="0" marL="0">
              <a:buNone/>
            </a:pPr>
            <a:r>
              <a:rPr lang="en-US" sz="2200" b="1" dirty="0">
                <a:solidFill>
                  <a:schemeClr val="tx1"/>
                </a:solidFill>
              </a:rPr>
              <a:t>Juan Diego Balanta</a:t>
            </a:r>
            <a:endParaRPr lang="en-US" sz="2200" dirty="0"/>
          </a:p>
        </p:txBody>
      </p:sp>
      <p:pic>
        <p:nvPicPr>
          <p:cNvPr id="7" name="Image 2" descr="Búho de MiDerecho (avatar-sabio)">    </p:cNvPr>
          <p:cNvPicPr>
            <a:picLocks noChangeAspect="1"/>
          </p:cNvPicPr>
          <p:nvPr/>
        </p:nvPicPr>
        <p:blipFill>
          <a:blip r:embed="rId3"/>
          <a:stretch>
            <a:fillRect/>
          </a:stretch>
        </p:blipFill>
        <p:spPr>
          <a:xfrm>
            <a:off x="8641777" y="1920240"/>
            <a:ext cx="2357758" cy="2103120"/>
          </a:xfrm>
          <a:prstGeom prst="rect">
            <a:avLst/>
          </a:prstGeom>
        </p:spPr>
      </p:pic>
      <p:sp>
        <p:nvSpPr>
          <p:cNvPr id="8" name="Text 3"/>
          <p:cNvSpPr txBox="1"/>
          <p:nvPr/>
        </p:nvSpPr>
        <p:spPr>
          <a:xfrm>
            <a:off x="8174736" y="4251960"/>
            <a:ext cx="3291840" cy="411480"/>
          </a:xfrm>
          <a:prstGeom prst="rect">
            <a:avLst/>
          </a:prstGeom>
          <a:noFill/>
          <a:ln/>
        </p:spPr>
        <p:txBody>
          <a:bodyPr wrap="square" lIns="0" tIns="0" rIns="0" bIns="0" rtlCol="0" anchor="t"/>
          <a:lstStyle/>
          <a:p>
            <a:pPr algn="ctr" indent="0" marL="0">
              <a:buNone/>
            </a:pPr>
            <a:r>
              <a:rPr lang="en-US" sz="2200" b="1" dirty="0">
                <a:solidFill>
                  <a:schemeClr val="tx1"/>
                </a:solidFill>
              </a:rPr>
              <a:t>Juan José Gallego</a:t>
            </a:r>
            <a:endParaRPr lang="en-US" sz="220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5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97280"/>
          </a:xfrm>
          <a:prstGeom prst="rect">
            <a:avLst/>
          </a:prstGeom>
          <a:noFill/>
          <a:ln/>
        </p:spPr>
        <p:txBody>
          <a:bodyPr wrap="square" lIns="0" tIns="0" rIns="0" bIns="0" rtlCol="0" anchor="ctr"/>
          <a:lstStyle/>
          <a:p>
            <a:pPr algn="ctr" indent="0" marL="0">
              <a:buNone/>
            </a:pPr>
            <a:r>
              <a:rPr lang="en-US" sz="3000" b="1" dirty="0">
                <a:solidFill>
                  <a:schemeClr val="tx1"/>
                </a:solidFill>
              </a:rPr>
              <a:t>LA INFORMACIÓN JURÍDICA NO SIEMPRE ESTÁ AL ALCANCE DE TODOS</a:t>
            </a:r>
            <a:endParaRPr lang="en-US" sz="3000" dirty="0"/>
          </a:p>
        </p:txBody>
      </p:sp>
      <p:sp>
        <p:nvSpPr>
          <p:cNvPr id="3" name="Text 1"/>
          <p:cNvSpPr txBox="1"/>
          <p:nvPr/>
        </p:nvSpPr>
        <p:spPr>
          <a:xfrm>
            <a:off x="1371600" y="1554480"/>
            <a:ext cx="9445752" cy="457200"/>
          </a:xfrm>
          <a:prstGeom prst="rect">
            <a:avLst/>
          </a:prstGeom>
          <a:noFill/>
          <a:ln/>
        </p:spPr>
        <p:txBody>
          <a:bodyPr wrap="square" lIns="0" tIns="0" rIns="0" bIns="0" rtlCol="0" anchor="t"/>
          <a:lstStyle/>
          <a:p>
            <a:pPr algn="ctr" indent="0" marL="0">
              <a:buNone/>
            </a:pPr>
            <a:r>
              <a:rPr lang="en-US" sz="1900" dirty="0">
                <a:solidFill>
                  <a:schemeClr val="tx1"/>
                </a:solidFill>
              </a:rPr>
              <a:t>En las comunidades rurales, el acceso a la justicia puede verse limitado por tres barreras:</a:t>
            </a:r>
            <a:endParaRPr lang="en-US" sz="1900" dirty="0"/>
          </a:p>
        </p:txBody>
      </p:sp>
      <p:sp>
        <p:nvSpPr>
          <p:cNvPr id="4" name="Shape 2"/>
          <p:cNvSpPr/>
          <p:nvPr/>
        </p:nvSpPr>
        <p:spPr>
          <a:xfrm>
            <a:off x="548640" y="2331720"/>
            <a:ext cx="3410712" cy="1097280"/>
          </a:xfrm>
          <a:prstGeom prst="roundRect">
            <a:avLst>
              <a:gd name="adj" fmla="val 15000"/>
            </a:avLst>
          </a:prstGeom>
          <a:solidFill>
            <a:schemeClr val="accent5"/>
          </a:solidFill>
          <a:ln/>
        </p:spPr>
      </p:sp>
      <p:sp>
        <p:nvSpPr>
          <p:cNvPr id="5" name="Text 3"/>
          <p:cNvSpPr txBox="1"/>
          <p:nvPr/>
        </p:nvSpPr>
        <p:spPr>
          <a:xfrm>
            <a:off x="731520" y="2331720"/>
            <a:ext cx="3044952" cy="1097280"/>
          </a:xfrm>
          <a:prstGeom prst="rect">
            <a:avLst/>
          </a:prstGeom>
          <a:noFill/>
          <a:ln/>
        </p:spPr>
        <p:txBody>
          <a:bodyPr wrap="square" lIns="0" tIns="0" rIns="0" bIns="0" rtlCol="0" anchor="ctr"/>
          <a:lstStyle/>
          <a:p>
            <a:pPr algn="ctr" indent="0" marL="0">
              <a:buNone/>
            </a:pPr>
            <a:r>
              <a:rPr lang="en-US" sz="2100" b="1" dirty="0">
                <a:solidFill>
                  <a:schemeClr val="bg2"/>
                </a:solidFill>
              </a:rPr>
              <a:t>Información compleja</a:t>
            </a:r>
            <a:endParaRPr lang="en-US" sz="2100" dirty="0"/>
          </a:p>
        </p:txBody>
      </p:sp>
      <p:sp>
        <p:nvSpPr>
          <p:cNvPr id="6" name="Text 4"/>
          <p:cNvSpPr txBox="1"/>
          <p:nvPr/>
        </p:nvSpPr>
        <p:spPr>
          <a:xfrm>
            <a:off x="548640" y="3611880"/>
            <a:ext cx="3410712" cy="685800"/>
          </a:xfrm>
          <a:prstGeom prst="rect">
            <a:avLst/>
          </a:prstGeom>
          <a:noFill/>
          <a:ln/>
        </p:spPr>
        <p:txBody>
          <a:bodyPr wrap="square" lIns="0" tIns="0" rIns="0" bIns="0" rtlCol="0" anchor="b"/>
          <a:lstStyle/>
          <a:p>
            <a:pPr algn="ctr" indent="0" marL="0">
              <a:buNone/>
            </a:pPr>
            <a:r>
              <a:rPr lang="en-US" sz="4000" b="1" dirty="0">
                <a:solidFill>
                  <a:schemeClr val="accent1"/>
                </a:solidFill>
              </a:rPr>
              <a:t>77%</a:t>
            </a:r>
            <a:endParaRPr lang="en-US" sz="4000" dirty="0"/>
          </a:p>
        </p:txBody>
      </p:sp>
      <p:sp>
        <p:nvSpPr>
          <p:cNvPr id="7" name="Text 5"/>
          <p:cNvSpPr txBox="1"/>
          <p:nvPr/>
        </p:nvSpPr>
        <p:spPr>
          <a:xfrm>
            <a:off x="548640" y="4361688"/>
            <a:ext cx="3410712" cy="822960"/>
          </a:xfrm>
          <a:prstGeom prst="rect">
            <a:avLst/>
          </a:prstGeom>
          <a:noFill/>
          <a:ln/>
        </p:spPr>
        <p:txBody>
          <a:bodyPr wrap="square" lIns="0" tIns="0" rIns="0" bIns="0" rtlCol="0" anchor="t"/>
          <a:lstStyle/>
          <a:p>
            <a:pPr algn="ctr" indent="0" marL="0">
              <a:buNone/>
            </a:pPr>
            <a:r>
              <a:rPr lang="en-US" sz="1500" dirty="0">
                <a:solidFill>
                  <a:schemeClr val="tx1"/>
                </a:solidFill>
              </a:rPr>
              <a:t>de los problemas legales del país seguía sin resolverse en 2020</a:t>
            </a:r>
            <a:endParaRPr lang="en-US" sz="1500" dirty="0"/>
          </a:p>
        </p:txBody>
      </p:sp>
      <p:sp>
        <p:nvSpPr>
          <p:cNvPr id="8" name="Shape 6"/>
          <p:cNvSpPr/>
          <p:nvPr/>
        </p:nvSpPr>
        <p:spPr>
          <a:xfrm>
            <a:off x="4389120" y="2331720"/>
            <a:ext cx="3410712" cy="1097280"/>
          </a:xfrm>
          <a:prstGeom prst="roundRect">
            <a:avLst>
              <a:gd name="adj" fmla="val 15000"/>
            </a:avLst>
          </a:prstGeom>
          <a:solidFill>
            <a:schemeClr val="accent5"/>
          </a:solidFill>
          <a:ln/>
        </p:spPr>
      </p:sp>
      <p:sp>
        <p:nvSpPr>
          <p:cNvPr id="9" name="Text 7"/>
          <p:cNvSpPr txBox="1"/>
          <p:nvPr/>
        </p:nvSpPr>
        <p:spPr>
          <a:xfrm>
            <a:off x="4572000" y="2331720"/>
            <a:ext cx="3044952" cy="1097280"/>
          </a:xfrm>
          <a:prstGeom prst="rect">
            <a:avLst/>
          </a:prstGeom>
          <a:noFill/>
          <a:ln/>
        </p:spPr>
        <p:txBody>
          <a:bodyPr wrap="square" lIns="0" tIns="0" rIns="0" bIns="0" rtlCol="0" anchor="ctr"/>
          <a:lstStyle/>
          <a:p>
            <a:pPr algn="ctr" indent="0" marL="0">
              <a:buNone/>
            </a:pPr>
            <a:r>
              <a:rPr lang="en-US" sz="2100" b="1" dirty="0">
                <a:solidFill>
                  <a:schemeClr val="bg2"/>
                </a:solidFill>
              </a:rPr>
              <a:t>Conectividad limitada</a:t>
            </a:r>
            <a:endParaRPr lang="en-US" sz="2100" dirty="0"/>
          </a:p>
        </p:txBody>
      </p:sp>
      <p:sp>
        <p:nvSpPr>
          <p:cNvPr id="10" name="Text 8"/>
          <p:cNvSpPr txBox="1"/>
          <p:nvPr/>
        </p:nvSpPr>
        <p:spPr>
          <a:xfrm>
            <a:off x="4389120" y="3611880"/>
            <a:ext cx="3410712" cy="685800"/>
          </a:xfrm>
          <a:prstGeom prst="rect">
            <a:avLst/>
          </a:prstGeom>
          <a:noFill/>
          <a:ln/>
        </p:spPr>
        <p:txBody>
          <a:bodyPr wrap="square" lIns="0" tIns="0" rIns="0" bIns="0" rtlCol="0" anchor="b"/>
          <a:lstStyle/>
          <a:p>
            <a:pPr algn="ctr" indent="0" marL="0">
              <a:buNone/>
            </a:pPr>
            <a:r>
              <a:rPr lang="en-US" sz="4000" b="1" dirty="0">
                <a:solidFill>
                  <a:schemeClr val="accent1"/>
                </a:solidFill>
              </a:rPr>
              <a:t>1,8 millones</a:t>
            </a:r>
            <a:endParaRPr lang="en-US" sz="4000" dirty="0"/>
          </a:p>
        </p:txBody>
      </p:sp>
      <p:sp>
        <p:nvSpPr>
          <p:cNvPr id="11" name="Text 9"/>
          <p:cNvSpPr txBox="1"/>
          <p:nvPr/>
        </p:nvSpPr>
        <p:spPr>
          <a:xfrm>
            <a:off x="4389120" y="4361688"/>
            <a:ext cx="3410712" cy="822960"/>
          </a:xfrm>
          <a:prstGeom prst="rect">
            <a:avLst/>
          </a:prstGeom>
          <a:noFill/>
          <a:ln/>
        </p:spPr>
        <p:txBody>
          <a:bodyPr wrap="square" lIns="0" tIns="0" rIns="0" bIns="0" rtlCol="0" anchor="t"/>
          <a:lstStyle/>
          <a:p>
            <a:pPr algn="ctr" indent="0" marL="0">
              <a:buNone/>
            </a:pPr>
            <a:r>
              <a:rPr lang="en-US" sz="1500" dirty="0">
                <a:solidFill>
                  <a:schemeClr val="tx1"/>
                </a:solidFill>
              </a:rPr>
              <a:t>de hogares rurales siguen sin internet</a:t>
            </a:r>
            <a:endParaRPr lang="en-US" sz="1500" dirty="0"/>
          </a:p>
        </p:txBody>
      </p:sp>
      <p:sp>
        <p:nvSpPr>
          <p:cNvPr id="12" name="Shape 10"/>
          <p:cNvSpPr/>
          <p:nvPr/>
        </p:nvSpPr>
        <p:spPr>
          <a:xfrm>
            <a:off x="8229600" y="2331720"/>
            <a:ext cx="3410712" cy="1097280"/>
          </a:xfrm>
          <a:prstGeom prst="roundRect">
            <a:avLst>
              <a:gd name="adj" fmla="val 15000"/>
            </a:avLst>
          </a:prstGeom>
          <a:solidFill>
            <a:schemeClr val="accent5"/>
          </a:solidFill>
          <a:ln/>
        </p:spPr>
      </p:sp>
      <p:sp>
        <p:nvSpPr>
          <p:cNvPr id="13" name="Text 11"/>
          <p:cNvSpPr txBox="1"/>
          <p:nvPr/>
        </p:nvSpPr>
        <p:spPr>
          <a:xfrm>
            <a:off x="8412480" y="2331720"/>
            <a:ext cx="3044952" cy="1097280"/>
          </a:xfrm>
          <a:prstGeom prst="rect">
            <a:avLst/>
          </a:prstGeom>
          <a:noFill/>
          <a:ln/>
        </p:spPr>
        <p:txBody>
          <a:bodyPr wrap="square" lIns="0" tIns="0" rIns="0" bIns="0" rtlCol="0" anchor="ctr"/>
          <a:lstStyle/>
          <a:p>
            <a:pPr algn="ctr" indent="0" marL="0">
              <a:buNone/>
            </a:pPr>
            <a:r>
              <a:rPr lang="en-US" sz="2100" b="1" dirty="0">
                <a:solidFill>
                  <a:schemeClr val="bg2"/>
                </a:solidFill>
              </a:rPr>
              <a:t>Desconocimiento de las herramientas</a:t>
            </a:r>
            <a:endParaRPr lang="en-US" sz="2100" dirty="0"/>
          </a:p>
        </p:txBody>
      </p:sp>
      <p:sp>
        <p:nvSpPr>
          <p:cNvPr id="14" name="Text 12"/>
          <p:cNvSpPr txBox="1"/>
          <p:nvPr/>
        </p:nvSpPr>
        <p:spPr>
          <a:xfrm>
            <a:off x="8229600" y="3611880"/>
            <a:ext cx="3410712" cy="685800"/>
          </a:xfrm>
          <a:prstGeom prst="rect">
            <a:avLst/>
          </a:prstGeom>
          <a:noFill/>
          <a:ln/>
        </p:spPr>
        <p:txBody>
          <a:bodyPr wrap="square" lIns="0" tIns="0" rIns="0" bIns="0" rtlCol="0" anchor="b"/>
          <a:lstStyle/>
          <a:p>
            <a:pPr algn="ctr" indent="0" marL="0">
              <a:buNone/>
            </a:pPr>
            <a:r>
              <a:rPr lang="en-US" sz="4000" b="1" dirty="0">
                <a:solidFill>
                  <a:schemeClr val="accent1"/>
                </a:solidFill>
              </a:rPr>
              <a:t>93,1%</a:t>
            </a:r>
            <a:endParaRPr lang="en-US" sz="4000" dirty="0"/>
          </a:p>
        </p:txBody>
      </p:sp>
      <p:sp>
        <p:nvSpPr>
          <p:cNvPr id="15" name="Text 13"/>
          <p:cNvSpPr txBox="1"/>
          <p:nvPr/>
        </p:nvSpPr>
        <p:spPr>
          <a:xfrm>
            <a:off x="8229600" y="4361688"/>
            <a:ext cx="3410712" cy="822960"/>
          </a:xfrm>
          <a:prstGeom prst="rect">
            <a:avLst/>
          </a:prstGeom>
          <a:noFill/>
          <a:ln/>
        </p:spPr>
        <p:txBody>
          <a:bodyPr wrap="square" lIns="0" tIns="0" rIns="0" bIns="0" rtlCol="0" anchor="t"/>
          <a:lstStyle/>
          <a:p>
            <a:pPr algn="ctr" indent="0" marL="0">
              <a:buNone/>
            </a:pPr>
            <a:r>
              <a:rPr lang="en-US" sz="1500" dirty="0">
                <a:solidFill>
                  <a:schemeClr val="tx1"/>
                </a:solidFill>
              </a:rPr>
              <a:t>en el campo usa el celular para llamar; solo el 64,3% para mensajes</a:t>
            </a:r>
            <a:endParaRPr lang="en-US" sz="1500" dirty="0"/>
          </a:p>
        </p:txBody>
      </p:sp>
      <p:sp>
        <p:nvSpPr>
          <p:cNvPr id="16" name="Text 14"/>
          <p:cNvSpPr txBox="1"/>
          <p:nvPr/>
        </p:nvSpPr>
        <p:spPr>
          <a:xfrm>
            <a:off x="548640" y="6263640"/>
            <a:ext cx="10424160" cy="320040"/>
          </a:xfrm>
          <a:prstGeom prst="rect">
            <a:avLst/>
          </a:prstGeom>
          <a:noFill/>
          <a:ln/>
        </p:spPr>
        <p:txBody>
          <a:bodyPr wrap="square" lIns="0" tIns="0" rIns="0" bIns="0" rtlCol="0" anchor="ctr"/>
          <a:lstStyle/>
          <a:p>
            <a:pPr indent="0" marL="0">
              <a:buNone/>
            </a:pPr>
            <a:r>
              <a:rPr lang="en-US" sz="1100" dirty="0">
                <a:solidFill>
                  <a:srgbClr val="6B675F"/>
                </a:solidFill>
              </a:rPr>
              <a:t>Fuentes: Encuesta de Necesidades Jurídicas 2020 (DNP-DANE); MinTIC 2025; DANE, ENTIC 2024.</a:t>
            </a:r>
            <a:endParaRPr lang="en-US" sz="110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5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97280"/>
          </a:xfrm>
          <a:prstGeom prst="rect">
            <a:avLst/>
          </a:prstGeom>
          <a:noFill/>
          <a:ln/>
        </p:spPr>
        <p:txBody>
          <a:bodyPr wrap="square" lIns="0" tIns="0" rIns="0" bIns="0" rtlCol="0" anchor="ctr"/>
          <a:lstStyle/>
          <a:p>
            <a:pPr algn="ctr" indent="0" marL="0">
              <a:buNone/>
            </a:pPr>
            <a:r>
              <a:rPr lang="en-US" sz="3000" b="1" dirty="0">
                <a:solidFill>
                  <a:schemeClr val="tx1"/>
                </a:solidFill>
              </a:rPr>
              <a:t>EN LA VEREDA, LA JUSTICIA QUEDA LEJOS</a:t>
            </a:r>
            <a:endParaRPr lang="en-US" sz="3000" dirty="0"/>
          </a:p>
        </p:txBody>
      </p:sp>
      <p:sp>
        <p:nvSpPr>
          <p:cNvPr id="3" name="Text 1"/>
          <p:cNvSpPr txBox="1"/>
          <p:nvPr/>
        </p:nvSpPr>
        <p:spPr>
          <a:xfrm>
            <a:off x="548640" y="1645920"/>
            <a:ext cx="4069080" cy="685800"/>
          </a:xfrm>
          <a:prstGeom prst="rect">
            <a:avLst/>
          </a:prstGeom>
          <a:noFill/>
          <a:ln/>
        </p:spPr>
        <p:txBody>
          <a:bodyPr wrap="square" lIns="0" tIns="0" rIns="0" bIns="0" rtlCol="0" anchor="b"/>
          <a:lstStyle/>
          <a:p>
            <a:pPr algn="l" indent="0" marL="0">
              <a:buNone/>
            </a:pPr>
            <a:r>
              <a:rPr lang="en-US" sz="4400" b="1" dirty="0">
                <a:solidFill>
                  <a:schemeClr val="accent1"/>
                </a:solidFill>
              </a:rPr>
              <a:t>432.658</a:t>
            </a:r>
            <a:endParaRPr lang="en-US" sz="4400" dirty="0"/>
          </a:p>
        </p:txBody>
      </p:sp>
      <p:sp>
        <p:nvSpPr>
          <p:cNvPr id="4" name="Text 2"/>
          <p:cNvSpPr txBox="1"/>
          <p:nvPr/>
        </p:nvSpPr>
        <p:spPr>
          <a:xfrm>
            <a:off x="548640" y="2395728"/>
            <a:ext cx="4069080" cy="822960"/>
          </a:xfrm>
          <a:prstGeom prst="rect">
            <a:avLst/>
          </a:prstGeom>
          <a:noFill/>
          <a:ln/>
        </p:spPr>
        <p:txBody>
          <a:bodyPr wrap="square" lIns="0" tIns="0" rIns="0" bIns="0" rtlCol="0" anchor="t"/>
          <a:lstStyle/>
          <a:p>
            <a:pPr algn="l" indent="0" marL="0">
              <a:buNone/>
            </a:pPr>
            <a:r>
              <a:rPr lang="en-US" sz="1500" dirty="0">
                <a:solidFill>
                  <a:schemeClr val="tx1"/>
                </a:solidFill>
              </a:rPr>
              <a:t>tutelas en 2025 porque una entidad no respondió un derecho de petición: casi la mitad de todas</a:t>
            </a:r>
            <a:endParaRPr lang="en-US" sz="1500" dirty="0"/>
          </a:p>
        </p:txBody>
      </p:sp>
      <p:sp>
        <p:nvSpPr>
          <p:cNvPr id="5" name="Text 3"/>
          <p:cNvSpPr txBox="1"/>
          <p:nvPr/>
        </p:nvSpPr>
        <p:spPr>
          <a:xfrm>
            <a:off x="548640" y="3291840"/>
            <a:ext cx="4069080" cy="685800"/>
          </a:xfrm>
          <a:prstGeom prst="rect">
            <a:avLst/>
          </a:prstGeom>
          <a:noFill/>
          <a:ln/>
        </p:spPr>
        <p:txBody>
          <a:bodyPr wrap="square" lIns="0" tIns="0" rIns="0" bIns="0" rtlCol="0" anchor="b"/>
          <a:lstStyle/>
          <a:p>
            <a:pPr algn="l" indent="0" marL="0">
              <a:buNone/>
            </a:pPr>
            <a:r>
              <a:rPr lang="en-US" sz="3600" b="1" dirty="0">
                <a:solidFill>
                  <a:schemeClr val="accent1"/>
                </a:solidFill>
              </a:rPr>
              <a:t>2,99 millones</a:t>
            </a:r>
            <a:endParaRPr lang="en-US" sz="3600" dirty="0"/>
          </a:p>
        </p:txBody>
      </p:sp>
      <p:sp>
        <p:nvSpPr>
          <p:cNvPr id="6" name="Text 4"/>
          <p:cNvSpPr txBox="1"/>
          <p:nvPr/>
        </p:nvSpPr>
        <p:spPr>
          <a:xfrm>
            <a:off x="548640" y="4041648"/>
            <a:ext cx="4069080" cy="822960"/>
          </a:xfrm>
          <a:prstGeom prst="rect">
            <a:avLst/>
          </a:prstGeom>
          <a:noFill/>
          <a:ln/>
        </p:spPr>
        <p:txBody>
          <a:bodyPr wrap="square" lIns="0" tIns="0" rIns="0" bIns="0" rtlCol="0" anchor="t"/>
          <a:lstStyle/>
          <a:p>
            <a:pPr algn="l" indent="0" marL="0">
              <a:buNone/>
            </a:pPr>
            <a:r>
              <a:rPr lang="en-US" sz="1500" dirty="0">
                <a:solidFill>
                  <a:schemeClr val="tx1"/>
                </a:solidFill>
              </a:rPr>
              <a:t>de personas viven en la zona rural de los municipios PDET</a:t>
            </a:r>
            <a:endParaRPr lang="en-US" sz="1500" dirty="0"/>
          </a:p>
        </p:txBody>
      </p:sp>
      <p:sp>
        <p:nvSpPr>
          <p:cNvPr id="7" name="Text 5"/>
          <p:cNvSpPr txBox="1"/>
          <p:nvPr/>
        </p:nvSpPr>
        <p:spPr>
          <a:xfrm>
            <a:off x="548640" y="4937760"/>
            <a:ext cx="4069080" cy="822960"/>
          </a:xfrm>
          <a:prstGeom prst="rect">
            <a:avLst/>
          </a:prstGeom>
          <a:noFill/>
          <a:ln/>
        </p:spPr>
        <p:txBody>
          <a:bodyPr wrap="square" lIns="0" tIns="0" rIns="0" bIns="0" rtlCol="0" anchor="t"/>
          <a:lstStyle/>
          <a:p>
            <a:pPr indent="0" marL="0">
              <a:buNone/>
            </a:pPr>
            <a:r>
              <a:rPr lang="en-US" sz="1600" i="1" dirty="0">
                <a:solidFill>
                  <a:schemeClr val="accent2"/>
                </a:solidFill>
              </a:rPr>
              <a:t>Juez, personero e inspector están en la cabecera municipal. La vereda queda a horas de camino.</a:t>
            </a:r>
            <a:endParaRPr lang="en-US" sz="1600" dirty="0"/>
          </a:p>
        </p:txBody>
      </p:sp>
      <p:pic>
        <p:nvPicPr>
          <p:cNvPr id="26" name="Video 1-problema">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892040" y="1600200"/>
            <a:ext cx="6748272" cy="3795903"/>
          </a:xfrm>
          <a:prstGeom prst="rect">
            <a:avLst/>
          </a:prstGeom>
        </p:spPr>
      </p:pic>
      <p:sp>
        <p:nvSpPr>
          <p:cNvPr id="9" name="Text 6"/>
          <p:cNvSpPr txBox="1"/>
          <p:nvPr/>
        </p:nvSpPr>
        <p:spPr>
          <a:xfrm>
            <a:off x="548640" y="6263640"/>
            <a:ext cx="10424160" cy="320040"/>
          </a:xfrm>
          <a:prstGeom prst="rect">
            <a:avLst/>
          </a:prstGeom>
          <a:noFill/>
          <a:ln/>
        </p:spPr>
        <p:txBody>
          <a:bodyPr wrap="square" lIns="0" tIns="0" rIns="0" bIns="0" rtlCol="0" anchor="ctr"/>
          <a:lstStyle/>
          <a:p>
            <a:pPr indent="0" marL="0">
              <a:buNone/>
            </a:pPr>
            <a:r>
              <a:rPr lang="en-US" sz="1100" dirty="0">
                <a:solidFill>
                  <a:srgbClr val="6B675F"/>
                </a:solidFill>
              </a:rPr>
              <a:t>Fuentes: Rama Judicial, Consejo Superior de la Judicatura (2025); informe ejecutivo del equipo, sección 4.</a:t>
            </a:r>
            <a:endParaRPr lang="en-US" sz="110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5F"/>
                </a:solidFill>
              </a:defRPr>
            </a:lvl1pPr>
          </a:lstStyle>
          <a:p>
            <a:pPr algn="r"/>
            <a:fld id="{F7021451-1387-4CA6-816F-3879F97B5CBC}" type="slidenum">
              <a:rPr b="0" lang="en-US"/>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6"/>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97280"/>
          </a:xfrm>
          <a:prstGeom prst="rect">
            <a:avLst/>
          </a:prstGeom>
          <a:noFill/>
          <a:ln/>
        </p:spPr>
        <p:txBody>
          <a:bodyPr wrap="square" lIns="0" tIns="0" rIns="0" bIns="0" rtlCol="0" anchor="ctr"/>
          <a:lstStyle/>
          <a:p>
            <a:pPr algn="ctr" indent="0" marL="0">
              <a:buNone/>
            </a:pPr>
            <a:r>
              <a:rPr lang="en-US" sz="3000" b="1" dirty="0">
                <a:solidFill>
                  <a:schemeClr val="tx1"/>
                </a:solidFill>
              </a:rPr>
              <a:t>PERSONAS QUE NECESITAN ORIENTACIÓN CLARA Y ACCESIBLE</a:t>
            </a:r>
            <a:endParaRPr lang="en-US" sz="3000" dirty="0"/>
          </a:p>
        </p:txBody>
      </p:sp>
      <p:sp>
        <p:nvSpPr>
          <p:cNvPr id="3" name="Text 1"/>
          <p:cNvSpPr txBox="1"/>
          <p:nvPr/>
        </p:nvSpPr>
        <p:spPr>
          <a:xfrm>
            <a:off x="548640" y="1691640"/>
            <a:ext cx="5303520" cy="1920240"/>
          </a:xfrm>
          <a:prstGeom prst="rect">
            <a:avLst/>
          </a:prstGeom>
          <a:noFill/>
          <a:ln/>
        </p:spPr>
        <p:txBody>
          <a:bodyPr wrap="square" lIns="0" tIns="0" rIns="0" bIns="0" rtlCol="0" anchor="t"/>
          <a:lstStyle/>
          <a:p>
            <a:pPr indent="0" marL="0">
              <a:buNone/>
            </a:pPr>
            <a:r>
              <a:rPr lang="en-US" sz="1900" b="1" dirty="0">
                <a:solidFill>
                  <a:schemeClr val="tx1"/>
                </a:solidFill>
              </a:rPr>
              <a:t>MiDerecho</a:t>
            </a:r>
            <a:pPr indent="0" marL="0">
              <a:buNone/>
            </a:pPr>
            <a:r>
              <a:rPr lang="en-US" sz="1900" dirty="0">
                <a:solidFill>
                  <a:schemeClr val="tx1"/>
                </a:solidFill>
              </a:rPr>
              <a:t> está pensado principalmente para personas de comunidades rurales que necesitan comprender una situación jurídica, identificar sus opciones y saber cómo actuar, incluso cuando tienen poca experiencia con herramientas digitales.</a:t>
            </a:r>
            <a:endParaRPr lang="en-US" sz="1900" dirty="0"/>
          </a:p>
        </p:txBody>
      </p:sp>
      <p:sp>
        <p:nvSpPr>
          <p:cNvPr id="4" name="Shape 2"/>
          <p:cNvSpPr/>
          <p:nvPr/>
        </p:nvSpPr>
        <p:spPr>
          <a:xfrm>
            <a:off x="548640" y="3886200"/>
            <a:ext cx="5303520" cy="1783080"/>
          </a:xfrm>
          <a:prstGeom prst="roundRect">
            <a:avLst>
              <a:gd name="adj" fmla="val 9231"/>
            </a:avLst>
          </a:prstGeom>
          <a:solidFill>
            <a:schemeClr val="accent3"/>
          </a:solidFill>
          <a:ln/>
        </p:spPr>
      </p:sp>
      <p:sp>
        <p:nvSpPr>
          <p:cNvPr id="5" name="Text 3"/>
          <p:cNvSpPr txBox="1"/>
          <p:nvPr/>
        </p:nvSpPr>
        <p:spPr>
          <a:xfrm>
            <a:off x="777240" y="4069080"/>
            <a:ext cx="4846320" cy="320040"/>
          </a:xfrm>
          <a:prstGeom prst="rect">
            <a:avLst/>
          </a:prstGeom>
          <a:noFill/>
          <a:ln/>
        </p:spPr>
        <p:txBody>
          <a:bodyPr wrap="square" lIns="0" tIns="0" rIns="0" bIns="0" rtlCol="0" anchor="t"/>
          <a:lstStyle/>
          <a:p>
            <a:pPr indent="0" marL="0">
              <a:buNone/>
            </a:pPr>
            <a:r>
              <a:rPr lang="en-US" sz="1400" b="1" dirty="0">
                <a:solidFill>
                  <a:schemeClr val="accent1"/>
                </a:solidFill>
              </a:rPr>
              <a:t>Usuario principal</a:t>
            </a:r>
            <a:endParaRPr lang="en-US" sz="1400" dirty="0"/>
          </a:p>
        </p:txBody>
      </p:sp>
      <p:sp>
        <p:nvSpPr>
          <p:cNvPr id="6" name="Text 4"/>
          <p:cNvSpPr txBox="1"/>
          <p:nvPr/>
        </p:nvSpPr>
        <p:spPr>
          <a:xfrm>
            <a:off x="777240" y="4434840"/>
            <a:ext cx="4846320" cy="1143000"/>
          </a:xfrm>
          <a:prstGeom prst="rect">
            <a:avLst/>
          </a:prstGeom>
          <a:noFill/>
          <a:ln/>
        </p:spPr>
        <p:txBody>
          <a:bodyPr wrap="square" lIns="0" tIns="0" rIns="0" bIns="0" rtlCol="0" anchor="t"/>
          <a:lstStyle/>
          <a:p>
            <a:pPr indent="0" marL="0">
              <a:buNone/>
            </a:pPr>
            <a:r>
              <a:rPr lang="en-US" sz="1600" dirty="0">
                <a:solidFill>
                  <a:schemeClr val="tx1"/>
                </a:solidFill>
              </a:rPr>
              <a:t>La persona líder de la vereda (presidente de la Junta de Acción Comunal o conciliador en equidad), que la usa con sus vecinos. Quien tenga celular propio también puede usarla sola.</a:t>
            </a:r>
            <a:endParaRPr lang="en-US" sz="1600" dirty="0"/>
          </a:p>
        </p:txBody>
      </p:sp>
      <p:sp>
        <p:nvSpPr>
          <p:cNvPr id="7" name="Shape 5"/>
          <p:cNvSpPr/>
          <p:nvPr/>
        </p:nvSpPr>
        <p:spPr>
          <a:xfrm>
            <a:off x="6263640" y="1691640"/>
            <a:ext cx="2606040" cy="1874520"/>
          </a:xfrm>
          <a:prstGeom prst="roundRect">
            <a:avLst>
              <a:gd name="adj" fmla="val 8780"/>
            </a:avLst>
          </a:prstGeom>
          <a:solidFill>
            <a:schemeClr val="bg1"/>
          </a:solidFill>
          <a:ln/>
          <a:effectLst>
            <a:outerShdw sx="100000" sy="100000" kx="0" ky="0" algn="bl" rotWithShape="0" blurRad="101600" dist="25400" dir="5400000">
              <a:srgbClr val="264933">
                <a:alpha val="14000"/>
              </a:srgbClr>
            </a:outerShdw>
          </a:effectLst>
        </p:spPr>
      </p:sp>
      <p:sp>
        <p:nvSpPr>
          <p:cNvPr id="8" name="Text 6"/>
          <p:cNvSpPr txBox="1"/>
          <p:nvPr/>
        </p:nvSpPr>
        <p:spPr>
          <a:xfrm>
            <a:off x="6464808" y="1874520"/>
            <a:ext cx="2240280" cy="548640"/>
          </a:xfrm>
          <a:prstGeom prst="rect">
            <a:avLst/>
          </a:prstGeom>
          <a:noFill/>
          <a:ln/>
        </p:spPr>
        <p:txBody>
          <a:bodyPr wrap="square" lIns="0" tIns="0" rIns="0" bIns="0" rtlCol="0" anchor="ctr"/>
          <a:lstStyle/>
          <a:p>
            <a:pPr indent="0" marL="0">
              <a:buNone/>
            </a:pPr>
            <a:r>
              <a:rPr lang="en-US" sz="3200" b="1" dirty="0">
                <a:solidFill>
                  <a:schemeClr val="accent1"/>
                </a:solidFill>
              </a:rPr>
              <a:t>63.833</a:t>
            </a:r>
            <a:endParaRPr lang="en-US" sz="3200" dirty="0"/>
          </a:p>
        </p:txBody>
      </p:sp>
      <p:sp>
        <p:nvSpPr>
          <p:cNvPr id="9" name="Text 7"/>
          <p:cNvSpPr txBox="1"/>
          <p:nvPr/>
        </p:nvSpPr>
        <p:spPr>
          <a:xfrm>
            <a:off x="6464808" y="2468880"/>
            <a:ext cx="2240280" cy="1005840"/>
          </a:xfrm>
          <a:prstGeom prst="rect">
            <a:avLst/>
          </a:prstGeom>
          <a:noFill/>
          <a:ln/>
        </p:spPr>
        <p:txBody>
          <a:bodyPr wrap="square" lIns="0" tIns="0" rIns="0" bIns="0" rtlCol="0" anchor="t"/>
          <a:lstStyle/>
          <a:p>
            <a:pPr indent="0" marL="0">
              <a:buNone/>
            </a:pPr>
            <a:r>
              <a:rPr lang="en-US" sz="1400" dirty="0">
                <a:solidFill>
                  <a:schemeClr val="tx1"/>
                </a:solidFill>
              </a:rPr>
              <a:t>Juntas de Acción Comunal en el país: nuestro canal de llegada</a:t>
            </a:r>
            <a:endParaRPr lang="en-US" sz="1400" dirty="0"/>
          </a:p>
        </p:txBody>
      </p:sp>
      <p:sp>
        <p:nvSpPr>
          <p:cNvPr id="10" name="Shape 8"/>
          <p:cNvSpPr/>
          <p:nvPr/>
        </p:nvSpPr>
        <p:spPr>
          <a:xfrm>
            <a:off x="9006840" y="1691640"/>
            <a:ext cx="2606040" cy="1874520"/>
          </a:xfrm>
          <a:prstGeom prst="roundRect">
            <a:avLst>
              <a:gd name="adj" fmla="val 8780"/>
            </a:avLst>
          </a:prstGeom>
          <a:solidFill>
            <a:schemeClr val="bg1"/>
          </a:solidFill>
          <a:ln/>
          <a:effectLst>
            <a:outerShdw sx="100000" sy="100000" kx="0" ky="0" algn="bl" rotWithShape="0" blurRad="101600" dist="25400" dir="5400000">
              <a:srgbClr val="264933">
                <a:alpha val="14000"/>
              </a:srgbClr>
            </a:outerShdw>
          </a:effectLst>
        </p:spPr>
      </p:sp>
      <p:sp>
        <p:nvSpPr>
          <p:cNvPr id="11" name="Text 9"/>
          <p:cNvSpPr txBox="1"/>
          <p:nvPr/>
        </p:nvSpPr>
        <p:spPr>
          <a:xfrm>
            <a:off x="9208008" y="1874520"/>
            <a:ext cx="2240280" cy="548640"/>
          </a:xfrm>
          <a:prstGeom prst="rect">
            <a:avLst/>
          </a:prstGeom>
          <a:noFill/>
          <a:ln/>
        </p:spPr>
        <p:txBody>
          <a:bodyPr wrap="square" lIns="0" tIns="0" rIns="0" bIns="0" rtlCol="0" anchor="ctr"/>
          <a:lstStyle/>
          <a:p>
            <a:pPr indent="0" marL="0">
              <a:buNone/>
            </a:pPr>
            <a:r>
              <a:rPr lang="en-US" sz="3200" b="1" dirty="0">
                <a:solidFill>
                  <a:schemeClr val="accent1"/>
                </a:solidFill>
              </a:rPr>
              <a:t>65,4%</a:t>
            </a:r>
            <a:endParaRPr lang="en-US" sz="3200" dirty="0"/>
          </a:p>
        </p:txBody>
      </p:sp>
      <p:sp>
        <p:nvSpPr>
          <p:cNvPr id="12" name="Text 10"/>
          <p:cNvSpPr txBox="1"/>
          <p:nvPr/>
        </p:nvSpPr>
        <p:spPr>
          <a:xfrm>
            <a:off x="9208008" y="2468880"/>
            <a:ext cx="2240280" cy="1005840"/>
          </a:xfrm>
          <a:prstGeom prst="rect">
            <a:avLst/>
          </a:prstGeom>
          <a:noFill/>
          <a:ln/>
        </p:spPr>
        <p:txBody>
          <a:bodyPr wrap="square" lIns="0" tIns="0" rIns="0" bIns="0" rtlCol="0" anchor="t"/>
          <a:lstStyle/>
          <a:p>
            <a:pPr indent="0" marL="0">
              <a:buNone/>
            </a:pPr>
            <a:r>
              <a:rPr lang="en-US" sz="1400" dirty="0">
                <a:solidFill>
                  <a:schemeClr val="tx1"/>
                </a:solidFill>
              </a:rPr>
              <a:t>tiene celular propio, aunque el 83,4% lo usa: el celular se comparte</a:t>
            </a:r>
            <a:endParaRPr lang="en-US" sz="1400" dirty="0"/>
          </a:p>
        </p:txBody>
      </p:sp>
      <p:sp>
        <p:nvSpPr>
          <p:cNvPr id="13" name="Shape 11"/>
          <p:cNvSpPr/>
          <p:nvPr/>
        </p:nvSpPr>
        <p:spPr>
          <a:xfrm>
            <a:off x="6263640" y="3749040"/>
            <a:ext cx="2606040" cy="1874520"/>
          </a:xfrm>
          <a:prstGeom prst="roundRect">
            <a:avLst>
              <a:gd name="adj" fmla="val 8780"/>
            </a:avLst>
          </a:prstGeom>
          <a:solidFill>
            <a:schemeClr val="bg1"/>
          </a:solidFill>
          <a:ln/>
          <a:effectLst>
            <a:outerShdw sx="100000" sy="100000" kx="0" ky="0" algn="bl" rotWithShape="0" blurRad="101600" dist="25400" dir="5400000">
              <a:srgbClr val="264933">
                <a:alpha val="14000"/>
              </a:srgbClr>
            </a:outerShdw>
          </a:effectLst>
        </p:spPr>
      </p:sp>
      <p:sp>
        <p:nvSpPr>
          <p:cNvPr id="14" name="Text 12"/>
          <p:cNvSpPr txBox="1"/>
          <p:nvPr/>
        </p:nvSpPr>
        <p:spPr>
          <a:xfrm>
            <a:off x="6464808" y="3931920"/>
            <a:ext cx="2240280" cy="548640"/>
          </a:xfrm>
          <a:prstGeom prst="rect">
            <a:avLst/>
          </a:prstGeom>
          <a:noFill/>
          <a:ln/>
        </p:spPr>
        <p:txBody>
          <a:bodyPr wrap="square" lIns="0" tIns="0" rIns="0" bIns="0" rtlCol="0" anchor="ctr"/>
          <a:lstStyle/>
          <a:p>
            <a:pPr indent="0" marL="0">
              <a:buNone/>
            </a:pPr>
            <a:r>
              <a:rPr lang="en-US" sz="3200" b="1" dirty="0">
                <a:solidFill>
                  <a:schemeClr val="accent1"/>
                </a:solidFill>
              </a:rPr>
              <a:t>15,7%</a:t>
            </a:r>
            <a:endParaRPr lang="en-US" sz="3200" dirty="0"/>
          </a:p>
        </p:txBody>
      </p:sp>
      <p:sp>
        <p:nvSpPr>
          <p:cNvPr id="15" name="Text 13"/>
          <p:cNvSpPr txBox="1"/>
          <p:nvPr/>
        </p:nvSpPr>
        <p:spPr>
          <a:xfrm>
            <a:off x="6464808" y="4526280"/>
            <a:ext cx="2240280" cy="1005840"/>
          </a:xfrm>
          <a:prstGeom prst="rect">
            <a:avLst/>
          </a:prstGeom>
          <a:noFill/>
          <a:ln/>
        </p:spPr>
        <p:txBody>
          <a:bodyPr wrap="square" lIns="0" tIns="0" rIns="0" bIns="0" rtlCol="0" anchor="t"/>
          <a:lstStyle/>
          <a:p>
            <a:pPr indent="0" marL="0">
              <a:buNone/>
            </a:pPr>
            <a:r>
              <a:rPr lang="en-US" sz="1400" dirty="0">
                <a:solidFill>
                  <a:schemeClr val="tx1"/>
                </a:solidFill>
              </a:rPr>
              <a:t>de los hogares rurales tiene a alguien que no lee: por eso, voz</a:t>
            </a:r>
            <a:endParaRPr lang="en-US" sz="1400" dirty="0"/>
          </a:p>
        </p:txBody>
      </p:sp>
      <p:sp>
        <p:nvSpPr>
          <p:cNvPr id="16" name="Shape 14"/>
          <p:cNvSpPr/>
          <p:nvPr/>
        </p:nvSpPr>
        <p:spPr>
          <a:xfrm>
            <a:off x="9006840" y="3749040"/>
            <a:ext cx="2606040" cy="1874520"/>
          </a:xfrm>
          <a:prstGeom prst="roundRect">
            <a:avLst>
              <a:gd name="adj" fmla="val 8780"/>
            </a:avLst>
          </a:prstGeom>
          <a:solidFill>
            <a:schemeClr val="bg1"/>
          </a:solidFill>
          <a:ln/>
          <a:effectLst>
            <a:outerShdw sx="100000" sy="100000" kx="0" ky="0" algn="bl" rotWithShape="0" blurRad="101600" dist="25400" dir="5400000">
              <a:srgbClr val="264933">
                <a:alpha val="14000"/>
              </a:srgbClr>
            </a:outerShdw>
          </a:effectLst>
        </p:spPr>
      </p:sp>
      <p:sp>
        <p:nvSpPr>
          <p:cNvPr id="17" name="Text 15"/>
          <p:cNvSpPr txBox="1"/>
          <p:nvPr/>
        </p:nvSpPr>
        <p:spPr>
          <a:xfrm>
            <a:off x="9208008" y="3931920"/>
            <a:ext cx="2240280" cy="548640"/>
          </a:xfrm>
          <a:prstGeom prst="rect">
            <a:avLst/>
          </a:prstGeom>
          <a:noFill/>
          <a:ln/>
        </p:spPr>
        <p:txBody>
          <a:bodyPr wrap="square" lIns="0" tIns="0" rIns="0" bIns="0" rtlCol="0" anchor="ctr"/>
          <a:lstStyle/>
          <a:p>
            <a:pPr indent="0" marL="0">
              <a:buNone/>
            </a:pPr>
            <a:r>
              <a:rPr lang="en-US" sz="3200" b="1" dirty="0">
                <a:solidFill>
                  <a:schemeClr val="accent1"/>
                </a:solidFill>
              </a:rPr>
              <a:t>14% + 9%</a:t>
            </a:r>
            <a:endParaRPr lang="en-US" sz="3200" dirty="0"/>
          </a:p>
        </p:txBody>
      </p:sp>
      <p:sp>
        <p:nvSpPr>
          <p:cNvPr id="18" name="Text 16"/>
          <p:cNvSpPr txBox="1"/>
          <p:nvPr/>
        </p:nvSpPr>
        <p:spPr>
          <a:xfrm>
            <a:off x="9208008" y="4526280"/>
            <a:ext cx="2240280" cy="1005840"/>
          </a:xfrm>
          <a:prstGeom prst="rect">
            <a:avLst/>
          </a:prstGeom>
          <a:noFill/>
          <a:ln/>
        </p:spPr>
        <p:txBody>
          <a:bodyPr wrap="square" lIns="0" tIns="0" rIns="0" bIns="0" rtlCol="0" anchor="t"/>
          <a:lstStyle/>
          <a:p>
            <a:pPr indent="0" marL="0">
              <a:buNone/>
            </a:pPr>
            <a:r>
              <a:rPr lang="en-US" sz="1400" dirty="0">
                <a:solidFill>
                  <a:schemeClr val="tx1"/>
                </a:solidFill>
              </a:rPr>
              <a:t>de los problemas rurales son de salud y de servicios públicos</a:t>
            </a:r>
            <a:endParaRPr lang="en-US" sz="1400" dirty="0"/>
          </a:p>
        </p:txBody>
      </p:sp>
      <p:sp>
        <p:nvSpPr>
          <p:cNvPr id="19" name="Text 17"/>
          <p:cNvSpPr txBox="1"/>
          <p:nvPr/>
        </p:nvSpPr>
        <p:spPr>
          <a:xfrm>
            <a:off x="548640" y="6263640"/>
            <a:ext cx="10424160" cy="320040"/>
          </a:xfrm>
          <a:prstGeom prst="rect">
            <a:avLst/>
          </a:prstGeom>
          <a:noFill/>
          <a:ln/>
        </p:spPr>
        <p:txBody>
          <a:bodyPr wrap="square" lIns="0" tIns="0" rIns="0" bIns="0" rtlCol="0" anchor="ctr"/>
          <a:lstStyle/>
          <a:p>
            <a:pPr indent="0" marL="0">
              <a:buNone/>
            </a:pPr>
            <a:r>
              <a:rPr lang="en-US" sz="1100" dirty="0">
                <a:solidFill>
                  <a:srgbClr val="6B675F"/>
                </a:solidFill>
              </a:rPr>
              <a:t>Fuentes: DANE; MinEducación 2026; Encuesta de Necesidades Jurídicas 2020 (zona rural).</a:t>
            </a:r>
            <a:endParaRPr lang="en-US" sz="110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5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97280"/>
          </a:xfrm>
          <a:prstGeom prst="rect">
            <a:avLst/>
          </a:prstGeom>
          <a:noFill/>
          <a:ln/>
        </p:spPr>
        <p:txBody>
          <a:bodyPr wrap="square" lIns="0" tIns="0" rIns="0" bIns="0" rtlCol="0" anchor="ctr"/>
          <a:lstStyle/>
          <a:p>
            <a:pPr algn="ctr" indent="0" marL="0">
              <a:buNone/>
            </a:pPr>
            <a:r>
              <a:rPr lang="en-US" sz="3000" b="1" dirty="0">
                <a:solidFill>
                  <a:schemeClr val="tx1"/>
                </a:solidFill>
              </a:rPr>
              <a:t>NUESTRA PROPUESTA DE SOLUCIÓN</a:t>
            </a:r>
            <a:endParaRPr lang="en-US" sz="3000" dirty="0"/>
          </a:p>
        </p:txBody>
      </p:sp>
      <p:sp>
        <p:nvSpPr>
          <p:cNvPr id="3" name="Text 1"/>
          <p:cNvSpPr txBox="1"/>
          <p:nvPr/>
        </p:nvSpPr>
        <p:spPr>
          <a:xfrm>
            <a:off x="548640" y="1645920"/>
            <a:ext cx="6583680" cy="1325880"/>
          </a:xfrm>
          <a:prstGeom prst="rect">
            <a:avLst/>
          </a:prstGeom>
          <a:noFill/>
          <a:ln/>
        </p:spPr>
        <p:txBody>
          <a:bodyPr wrap="square" lIns="0" tIns="0" rIns="0" bIns="0" rtlCol="0" anchor="t"/>
          <a:lstStyle/>
          <a:p>
            <a:pPr indent="0" marL="0">
              <a:buNone/>
            </a:pPr>
            <a:r>
              <a:rPr lang="en-US" sz="1900" dirty="0">
                <a:solidFill>
                  <a:schemeClr val="tx1"/>
                </a:solidFill>
              </a:rPr>
              <a:t>Una herramienta de orientación jurídica que transforma información compleja en explicaciones sencillas, rutas de acción y documentos guiados, con funciones pensadas para conexiones limitadas.</a:t>
            </a:r>
            <a:endParaRPr lang="en-US" sz="1900" dirty="0"/>
          </a:p>
        </p:txBody>
      </p:sp>
      <p:sp>
        <p:nvSpPr>
          <p:cNvPr id="4" name="Shape 2"/>
          <p:cNvSpPr/>
          <p:nvPr/>
        </p:nvSpPr>
        <p:spPr>
          <a:xfrm>
            <a:off x="548640" y="3200400"/>
            <a:ext cx="3154680" cy="2743200"/>
          </a:xfrm>
          <a:prstGeom prst="roundRect">
            <a:avLst>
              <a:gd name="adj" fmla="val 6000"/>
            </a:avLst>
          </a:prstGeom>
          <a:solidFill>
            <a:schemeClr val="accent3"/>
          </a:solidFill>
          <a:ln/>
        </p:spPr>
      </p:sp>
      <p:sp>
        <p:nvSpPr>
          <p:cNvPr id="5" name="Text 3"/>
          <p:cNvSpPr txBox="1"/>
          <p:nvPr/>
        </p:nvSpPr>
        <p:spPr>
          <a:xfrm>
            <a:off x="777240" y="3383280"/>
            <a:ext cx="2743200" cy="274320"/>
          </a:xfrm>
          <a:prstGeom prst="rect">
            <a:avLst/>
          </a:prstGeom>
          <a:noFill/>
          <a:ln/>
        </p:spPr>
        <p:txBody>
          <a:bodyPr wrap="square" lIns="0" tIns="0" rIns="0" bIns="0" rtlCol="0" anchor="t"/>
          <a:lstStyle/>
          <a:p>
            <a:pPr indent="0" marL="0">
              <a:buNone/>
            </a:pPr>
            <a:r>
              <a:rPr lang="en-US" sz="1300" b="1" spc="100" kern="0" dirty="0">
                <a:solidFill>
                  <a:schemeClr val="tx1"/>
                </a:solidFill>
              </a:rPr>
              <a:t>SIN INTERNET</a:t>
            </a:r>
            <a:endParaRPr lang="en-US" sz="1300" dirty="0"/>
          </a:p>
        </p:txBody>
      </p:sp>
      <p:sp>
        <p:nvSpPr>
          <p:cNvPr id="6" name="Text 4"/>
          <p:cNvSpPr txBox="1"/>
          <p:nvPr/>
        </p:nvSpPr>
        <p:spPr>
          <a:xfrm>
            <a:off x="777240" y="3675888"/>
            <a:ext cx="2743200" cy="411480"/>
          </a:xfrm>
          <a:prstGeom prst="rect">
            <a:avLst/>
          </a:prstGeom>
          <a:noFill/>
          <a:ln/>
        </p:spPr>
        <p:txBody>
          <a:bodyPr wrap="square" lIns="0" tIns="0" rIns="0" bIns="0" rtlCol="0" anchor="t"/>
          <a:lstStyle/>
          <a:p>
            <a:pPr indent="0" marL="0">
              <a:buNone/>
            </a:pPr>
            <a:r>
              <a:rPr lang="en-US" sz="2100" b="1" dirty="0">
                <a:solidFill>
                  <a:schemeClr val="tx1"/>
                </a:solidFill>
              </a:rPr>
              <a:t>Conozca sus derechos</a:t>
            </a:r>
            <a:endParaRPr lang="en-US" sz="2100" dirty="0"/>
          </a:p>
        </p:txBody>
      </p:sp>
      <p:sp>
        <p:nvSpPr>
          <p:cNvPr id="7" name="Text 5"/>
          <p:cNvSpPr txBox="1"/>
          <p:nvPr/>
        </p:nvSpPr>
        <p:spPr>
          <a:xfrm>
            <a:off x="777240" y="4206240"/>
            <a:ext cx="2743200" cy="164592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tx1"/>
                </a:solidFill>
              </a:rPr>
              <a:t>Salud, trabajo, vivienda, peticiones e igualdad</a:t>
            </a:r>
            <a:endParaRPr lang="en-US" sz="1500" dirty="0"/>
          </a:p>
          <a:p>
            <a:pPr marL="228600" indent="-228600">
              <a:spcAft>
                <a:spcPts val="600"/>
              </a:spcAft>
              <a:buSzPct val="100000"/>
              <a:buChar char="•"/>
            </a:pPr>
            <a:r>
              <a:rPr lang="en-US" sz="1500" dirty="0">
                <a:solidFill>
                  <a:schemeClr val="tx1"/>
                </a:solidFill>
              </a:rPr>
              <a:t>Historietas y lectura en voz alta</a:t>
            </a:r>
            <a:endParaRPr lang="en-US" sz="1500" dirty="0"/>
          </a:p>
          <a:p>
            <a:pPr marL="228600" indent="-228600">
              <a:spcAft>
                <a:spcPts val="600"/>
              </a:spcAft>
              <a:buSzPct val="100000"/>
              <a:buChar char="•"/>
            </a:pPr>
            <a:r>
              <a:rPr lang="en-US" sz="1500" dirty="0">
                <a:solidFill>
                  <a:schemeClr val="tx1"/>
                </a:solidFill>
              </a:rPr>
              <a:t>«¿Qué dice la ley?», con la norma</a:t>
            </a:r>
            <a:endParaRPr lang="en-US" sz="1500" dirty="0"/>
          </a:p>
        </p:txBody>
      </p:sp>
      <p:sp>
        <p:nvSpPr>
          <p:cNvPr id="8" name="Shape 6"/>
          <p:cNvSpPr/>
          <p:nvPr/>
        </p:nvSpPr>
        <p:spPr>
          <a:xfrm>
            <a:off x="3931920" y="3200400"/>
            <a:ext cx="3154680" cy="2743200"/>
          </a:xfrm>
          <a:prstGeom prst="roundRect">
            <a:avLst>
              <a:gd name="adj" fmla="val 6000"/>
            </a:avLst>
          </a:prstGeom>
          <a:solidFill>
            <a:schemeClr val="accent1"/>
          </a:solidFill>
          <a:ln/>
        </p:spPr>
      </p:sp>
      <p:sp>
        <p:nvSpPr>
          <p:cNvPr id="9" name="Text 7"/>
          <p:cNvSpPr txBox="1"/>
          <p:nvPr/>
        </p:nvSpPr>
        <p:spPr>
          <a:xfrm>
            <a:off x="4160520" y="3383280"/>
            <a:ext cx="2743200" cy="274320"/>
          </a:xfrm>
          <a:prstGeom prst="rect">
            <a:avLst/>
          </a:prstGeom>
          <a:noFill/>
          <a:ln/>
        </p:spPr>
        <p:txBody>
          <a:bodyPr wrap="square" lIns="0" tIns="0" rIns="0" bIns="0" rtlCol="0" anchor="t"/>
          <a:lstStyle/>
          <a:p>
            <a:pPr indent="0" marL="0">
              <a:buNone/>
            </a:pPr>
            <a:r>
              <a:rPr lang="en-US" sz="1300" b="1" spc="100" kern="0" dirty="0">
                <a:solidFill>
                  <a:schemeClr val="bg2"/>
                </a:solidFill>
              </a:rPr>
              <a:t>CON INTERNET</a:t>
            </a:r>
            <a:endParaRPr lang="en-US" sz="1300" dirty="0"/>
          </a:p>
        </p:txBody>
      </p:sp>
      <p:sp>
        <p:nvSpPr>
          <p:cNvPr id="10" name="Text 8"/>
          <p:cNvSpPr txBox="1"/>
          <p:nvPr/>
        </p:nvSpPr>
        <p:spPr>
          <a:xfrm>
            <a:off x="4160520" y="3675888"/>
            <a:ext cx="2743200" cy="411480"/>
          </a:xfrm>
          <a:prstGeom prst="rect">
            <a:avLst/>
          </a:prstGeom>
          <a:noFill/>
          <a:ln/>
        </p:spPr>
        <p:txBody>
          <a:bodyPr wrap="square" lIns="0" tIns="0" rIns="0" bIns="0" rtlCol="0" anchor="t"/>
          <a:lstStyle/>
          <a:p>
            <a:pPr indent="0" marL="0">
              <a:buNone/>
            </a:pPr>
            <a:r>
              <a:rPr lang="en-US" sz="2100" b="1" dirty="0">
                <a:solidFill>
                  <a:schemeClr val="bg2"/>
                </a:solidFill>
              </a:rPr>
              <a:t>El ayudante con IA</a:t>
            </a:r>
            <a:endParaRPr lang="en-US" sz="2100" dirty="0"/>
          </a:p>
        </p:txBody>
      </p:sp>
      <p:sp>
        <p:nvSpPr>
          <p:cNvPr id="11" name="Text 9"/>
          <p:cNvSpPr txBox="1"/>
          <p:nvPr/>
        </p:nvSpPr>
        <p:spPr>
          <a:xfrm>
            <a:off x="4160520" y="4206240"/>
            <a:ext cx="2743200" cy="164592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bg2"/>
                </a:solidFill>
              </a:rPr>
              <a:t>Escucha el caso y orienta</a:t>
            </a:r>
            <a:endParaRPr lang="en-US" sz="1500" dirty="0"/>
          </a:p>
          <a:p>
            <a:pPr marL="228600" indent="-228600">
              <a:spcAft>
                <a:spcPts val="600"/>
              </a:spcAft>
              <a:buSzPct val="100000"/>
              <a:buChar char="•"/>
            </a:pPr>
            <a:r>
              <a:rPr lang="en-US" sz="1500" dirty="0">
                <a:solidFill>
                  <a:schemeClr val="bg2"/>
                </a:solidFill>
              </a:rPr>
              <a:t>Arma el documento</a:t>
            </a:r>
            <a:endParaRPr lang="en-US" sz="1500" dirty="0"/>
          </a:p>
          <a:p>
            <a:pPr marL="228600" indent="-228600">
              <a:spcAft>
                <a:spcPts val="600"/>
              </a:spcAft>
              <a:buSzPct val="100000"/>
              <a:buChar char="•"/>
            </a:pPr>
            <a:r>
              <a:rPr lang="en-US" sz="1500" dirty="0">
                <a:solidFill>
                  <a:schemeClr val="bg2"/>
                </a:solidFill>
              </a:rPr>
              <a:t>Lo envía y sigue el plazo</a:t>
            </a:r>
            <a:endParaRPr lang="en-US" sz="1500" dirty="0"/>
          </a:p>
        </p:txBody>
      </p:sp>
      <p:sp>
        <p:nvSpPr>
          <p:cNvPr id="12" name="Shape 10"/>
          <p:cNvSpPr/>
          <p:nvPr/>
        </p:nvSpPr>
        <p:spPr>
          <a:xfrm>
            <a:off x="7680960" y="1463040"/>
            <a:ext cx="2334467" cy="4846320"/>
          </a:xfrm>
          <a:prstGeom prst="roundRect">
            <a:avLst>
              <a:gd name="adj" fmla="val 12534"/>
            </a:avLst>
          </a:prstGeom>
          <a:solidFill>
            <a:srgbClr val="1E2A23"/>
          </a:solidFill>
          <a:ln/>
          <a:effectLst>
            <a:outerShdw sx="100000" sy="100000" kx="0" ky="0" algn="bl" rotWithShape="0" blurRad="101600" dist="25400" dir="5400000">
              <a:srgbClr val="264933">
                <a:alpha val="14000"/>
              </a:srgbClr>
            </a:outerShdw>
          </a:effectLst>
        </p:spPr>
      </p:sp>
      <p:pic>
        <p:nvPicPr>
          <p:cNvPr id="13" name="Image 0" descr="Pantalla de inicio de MiDerecho: ¿Qué necesita resolver hoy?">    </p:cNvPr>
          <p:cNvPicPr>
            <a:picLocks noChangeAspect="1"/>
          </p:cNvPicPr>
          <p:nvPr/>
        </p:nvPicPr>
        <p:blipFill>
          <a:blip r:embed="rId1"/>
          <a:stretch>
            <a:fillRect/>
          </a:stretch>
        </p:blipFill>
        <p:spPr>
          <a:xfrm>
            <a:off x="7772400" y="1554480"/>
            <a:ext cx="2151587" cy="4663440"/>
          </a:xfrm>
          <a:prstGeom prst="rect">
            <a:avLst/>
          </a:prstGeom>
        </p:spPr>
      </p:pic>
      <p:pic>
        <p:nvPicPr>
          <p:cNvPr id="14" name="Image 1" descr="Búho de MiDerecho (saludo)">    </p:cNvPr>
          <p:cNvPicPr>
            <a:picLocks noChangeAspect="1"/>
          </p:cNvPicPr>
          <p:nvPr/>
        </p:nvPicPr>
        <p:blipFill>
          <a:blip r:embed="rId2"/>
          <a:srcRect l="0" r="4000" t="0" b="0"/>
          <a:stretch/>
        </p:blipFill>
        <p:spPr>
          <a:xfrm>
            <a:off x="9921240" y="4160520"/>
            <a:ext cx="1743630" cy="2148840"/>
          </a:xfrm>
          <a:prstGeom prst="rect">
            <a:avLst/>
          </a:prstGeom>
        </p:spPr>
      </p:pic>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5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97280"/>
          </a:xfrm>
          <a:prstGeom prst="rect">
            <a:avLst/>
          </a:prstGeom>
          <a:noFill/>
          <a:ln/>
        </p:spPr>
        <p:txBody>
          <a:bodyPr wrap="square" lIns="0" tIns="0" rIns="0" bIns="0" rtlCol="0" anchor="ctr"/>
          <a:lstStyle/>
          <a:p>
            <a:pPr algn="ctr" indent="0" marL="0">
              <a:buNone/>
            </a:pPr>
            <a:r>
              <a:rPr lang="en-US" sz="3000" b="1" dirty="0">
                <a:solidFill>
                  <a:schemeClr val="tx1"/>
                </a:solidFill>
              </a:rPr>
              <a:t>DEL LENGUAJE JURÍDICO AL LENGUAJE COTIDIANO</a:t>
            </a:r>
            <a:endParaRPr lang="en-US" sz="3000" dirty="0"/>
          </a:p>
        </p:txBody>
      </p:sp>
      <p:sp>
        <p:nvSpPr>
          <p:cNvPr id="3" name="Text 1"/>
          <p:cNvSpPr txBox="1"/>
          <p:nvPr/>
        </p:nvSpPr>
        <p:spPr>
          <a:xfrm>
            <a:off x="548640" y="1691640"/>
            <a:ext cx="3657600" cy="274320"/>
          </a:xfrm>
          <a:prstGeom prst="rect">
            <a:avLst/>
          </a:prstGeom>
          <a:noFill/>
          <a:ln/>
        </p:spPr>
        <p:txBody>
          <a:bodyPr wrap="square" lIns="0" tIns="0" rIns="0" bIns="0" rtlCol="0" anchor="t"/>
          <a:lstStyle/>
          <a:p>
            <a:pPr indent="0" marL="0">
              <a:buNone/>
            </a:pPr>
            <a:r>
              <a:rPr lang="en-US" sz="1300" b="1" spc="100" kern="0" dirty="0">
                <a:solidFill>
                  <a:schemeClr val="accent2"/>
                </a:solidFill>
              </a:rPr>
              <a:t>LEGAL DESIGN</a:t>
            </a:r>
            <a:endParaRPr lang="en-US" sz="1300" dirty="0"/>
          </a:p>
        </p:txBody>
      </p:sp>
      <p:sp>
        <p:nvSpPr>
          <p:cNvPr id="4" name="Text 2"/>
          <p:cNvSpPr txBox="1"/>
          <p:nvPr/>
        </p:nvSpPr>
        <p:spPr>
          <a:xfrm>
            <a:off x="548640" y="2103120"/>
            <a:ext cx="5486400" cy="393192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chemeClr val="tx1"/>
                </a:solidFill>
              </a:rPr>
              <a:t>Explicaciones en palabras sencillas, sin términos de abogado.</a:t>
            </a:r>
            <a:endParaRPr lang="en-US" sz="1800" dirty="0"/>
          </a:p>
          <a:p>
            <a:pPr marL="228600" indent="-228600">
              <a:spcAft>
                <a:spcPts val="1000"/>
              </a:spcAft>
              <a:buSzPct val="100000"/>
              <a:buChar char="•"/>
            </a:pPr>
            <a:r>
              <a:rPr lang="en-US" sz="1800" dirty="0">
                <a:solidFill>
                  <a:schemeClr val="tx1"/>
                </a:solidFill>
              </a:rPr>
              <a:t>Historietas con situaciones de la vida diaria.</a:t>
            </a:r>
            <a:endParaRPr lang="en-US" sz="1800" dirty="0"/>
          </a:p>
          <a:p>
            <a:pPr marL="228600" indent="-228600">
              <a:spcAft>
                <a:spcPts val="1000"/>
              </a:spcAft>
              <a:buSzPct val="100000"/>
              <a:buChar char="•"/>
            </a:pPr>
            <a:r>
              <a:rPr lang="en-US" sz="1800" dirty="0">
                <a:solidFill>
                  <a:schemeClr val="tx1"/>
                </a:solidFill>
              </a:rPr>
              <a:t>«¿Qué dice la ley?»: la norma, organizada y con su fuente.</a:t>
            </a:r>
            <a:endParaRPr lang="en-US" sz="1800" dirty="0"/>
          </a:p>
          <a:p>
            <a:pPr marL="228600" indent="-228600">
              <a:spcAft>
                <a:spcPts val="1000"/>
              </a:spcAft>
              <a:buSzPct val="100000"/>
              <a:buChar char="•"/>
            </a:pPr>
            <a:r>
              <a:rPr lang="en-US" sz="1800" dirty="0">
                <a:solidFill>
                  <a:schemeClr val="tx1"/>
                </a:solidFill>
              </a:rPr>
              <a:t>Preguntas guiadas para entender qué necesita la persona.</a:t>
            </a:r>
            <a:endParaRPr lang="en-US" sz="1800" dirty="0"/>
          </a:p>
          <a:p>
            <a:pPr marL="228600" indent="-228600">
              <a:spcAft>
                <a:spcPts val="1000"/>
              </a:spcAft>
              <a:buSzPct val="100000"/>
              <a:buChar char="•"/>
            </a:pPr>
            <a:r>
              <a:rPr lang="en-US" sz="1800" dirty="0">
                <a:solidFill>
                  <a:schemeClr val="tx1"/>
                </a:solidFill>
              </a:rPr>
              <a:t>Instrucciones paso a paso para saber cómo actuar.</a:t>
            </a:r>
            <a:endParaRPr lang="en-US" sz="1800" dirty="0"/>
          </a:p>
          <a:p>
            <a:pPr marL="228600" indent="-228600">
              <a:spcAft>
                <a:spcPts val="1000"/>
              </a:spcAft>
              <a:buSzPct val="100000"/>
              <a:buChar char="•"/>
            </a:pPr>
            <a:r>
              <a:rPr lang="en-US" sz="1800" dirty="0">
                <a:solidFill>
                  <a:schemeClr val="tx1"/>
                </a:solidFill>
              </a:rPr>
              <a:t>Todo se puede escuchar en voz alta.</a:t>
            </a:r>
            <a:endParaRPr lang="en-US" sz="1800" dirty="0"/>
          </a:p>
        </p:txBody>
      </p:sp>
      <p:sp>
        <p:nvSpPr>
          <p:cNvPr id="5" name="Shape 3"/>
          <p:cNvSpPr/>
          <p:nvPr/>
        </p:nvSpPr>
        <p:spPr>
          <a:xfrm>
            <a:off x="6537960" y="1463040"/>
            <a:ext cx="2334467" cy="4846320"/>
          </a:xfrm>
          <a:prstGeom prst="roundRect">
            <a:avLst>
              <a:gd name="adj" fmla="val 12534"/>
            </a:avLst>
          </a:prstGeom>
          <a:solidFill>
            <a:srgbClr val="1E2A23"/>
          </a:solidFill>
          <a:ln/>
          <a:effectLst>
            <a:outerShdw sx="100000" sy="100000" kx="0" ky="0" algn="bl" rotWithShape="0" blurRad="101600" dist="25400" dir="5400000">
              <a:srgbClr val="264933">
                <a:alpha val="14000"/>
              </a:srgbClr>
            </a:outerShdw>
          </a:effectLst>
        </p:spPr>
      </p:sp>
      <p:pic>
        <p:nvPicPr>
          <p:cNvPr id="6" name="Image 0" descr="Pantalla Conozca sus derechos, con los temas">    </p:cNvPr>
          <p:cNvPicPr>
            <a:picLocks noChangeAspect="1"/>
          </p:cNvPicPr>
          <p:nvPr/>
        </p:nvPicPr>
        <p:blipFill>
          <a:blip r:embed="rId1"/>
          <a:stretch>
            <a:fillRect/>
          </a:stretch>
        </p:blipFill>
        <p:spPr>
          <a:xfrm>
            <a:off x="6629400" y="1554480"/>
            <a:ext cx="2151587" cy="4663440"/>
          </a:xfrm>
          <a:prstGeom prst="rect">
            <a:avLst/>
          </a:prstGeom>
        </p:spPr>
      </p:pic>
      <p:sp>
        <p:nvSpPr>
          <p:cNvPr id="7" name="Shape 4"/>
          <p:cNvSpPr/>
          <p:nvPr/>
        </p:nvSpPr>
        <p:spPr>
          <a:xfrm>
            <a:off x="9189720" y="1463040"/>
            <a:ext cx="2334467" cy="4846320"/>
          </a:xfrm>
          <a:prstGeom prst="roundRect">
            <a:avLst>
              <a:gd name="adj" fmla="val 12534"/>
            </a:avLst>
          </a:prstGeom>
          <a:solidFill>
            <a:srgbClr val="1E2A23"/>
          </a:solidFill>
          <a:ln/>
          <a:effectLst>
            <a:outerShdw sx="100000" sy="100000" kx="0" ky="0" algn="bl" rotWithShape="0" blurRad="101600" dist="25400" dir="5400000">
              <a:srgbClr val="264933">
                <a:alpha val="14000"/>
              </a:srgbClr>
            </a:outerShdw>
          </a:effectLst>
        </p:spPr>
      </p:sp>
      <p:pic>
        <p:nvPicPr>
          <p:cNvPr id="8" name="Image 1" descr="Historieta del derecho a la salud">    </p:cNvPr>
          <p:cNvPicPr>
            <a:picLocks noChangeAspect="1"/>
          </p:cNvPicPr>
          <p:nvPr/>
        </p:nvPicPr>
        <p:blipFill>
          <a:blip r:embed="rId2"/>
          <a:stretch>
            <a:fillRect/>
          </a:stretch>
        </p:blipFill>
        <p:spPr>
          <a:xfrm>
            <a:off x="9281160" y="1554480"/>
            <a:ext cx="2151587" cy="4663440"/>
          </a:xfrm>
          <a:prstGeom prst="rect">
            <a:avLst/>
          </a:prstGeom>
        </p:spPr>
      </p:pic>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5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97280"/>
          </a:xfrm>
          <a:prstGeom prst="rect">
            <a:avLst/>
          </a:prstGeom>
          <a:noFill/>
          <a:ln/>
        </p:spPr>
        <p:txBody>
          <a:bodyPr wrap="square" lIns="0" tIns="0" rIns="0" bIns="0" rtlCol="0" anchor="ctr"/>
          <a:lstStyle/>
          <a:p>
            <a:pPr algn="ctr" indent="0" marL="0">
              <a:buNone/>
            </a:pPr>
            <a:r>
              <a:rPr lang="en-US" sz="3000" b="1" dirty="0">
                <a:solidFill>
                  <a:schemeClr val="tx1"/>
                </a:solidFill>
              </a:rPr>
              <a:t>NO NECESITAS SABER DE LEYES PARA COMENZAR</a:t>
            </a:r>
            <a:endParaRPr lang="en-US" sz="3000" dirty="0"/>
          </a:p>
        </p:txBody>
      </p:sp>
      <p:sp>
        <p:nvSpPr>
          <p:cNvPr id="3" name="Text 1"/>
          <p:cNvSpPr txBox="1"/>
          <p:nvPr/>
        </p:nvSpPr>
        <p:spPr>
          <a:xfrm>
            <a:off x="1371600" y="1554480"/>
            <a:ext cx="9445752" cy="777240"/>
          </a:xfrm>
          <a:prstGeom prst="rect">
            <a:avLst/>
          </a:prstGeom>
          <a:noFill/>
          <a:ln/>
        </p:spPr>
        <p:txBody>
          <a:bodyPr wrap="square" lIns="0" tIns="0" rIns="0" bIns="0" rtlCol="0" anchor="t"/>
          <a:lstStyle/>
          <a:p>
            <a:pPr algn="ctr" indent="0" marL="0">
              <a:buNone/>
            </a:pPr>
            <a:r>
              <a:rPr lang="en-US" sz="1800" dirty="0">
                <a:solidFill>
                  <a:schemeClr val="tx1"/>
                </a:solidFill>
              </a:rPr>
              <a:t>La aplicación acompaña al usuario mediante un flujo de preguntas sencillas que le permite explicar su situación y recibir orientación organizada.</a:t>
            </a:r>
            <a:endParaRPr lang="en-US" sz="1800" dirty="0"/>
          </a:p>
        </p:txBody>
      </p:sp>
      <p:sp>
        <p:nvSpPr>
          <p:cNvPr id="4" name="Shape 2"/>
          <p:cNvSpPr/>
          <p:nvPr/>
        </p:nvSpPr>
        <p:spPr>
          <a:xfrm>
            <a:off x="548640" y="2606040"/>
            <a:ext cx="2560320" cy="2377440"/>
          </a:xfrm>
          <a:prstGeom prst="roundRect">
            <a:avLst>
              <a:gd name="adj" fmla="val 6923"/>
            </a:avLst>
          </a:prstGeom>
          <a:solidFill>
            <a:schemeClr val="accent3"/>
          </a:solidFill>
          <a:ln/>
        </p:spPr>
      </p:sp>
      <p:sp>
        <p:nvSpPr>
          <p:cNvPr id="5" name="Shape 3"/>
          <p:cNvSpPr/>
          <p:nvPr/>
        </p:nvSpPr>
        <p:spPr>
          <a:xfrm>
            <a:off x="777240" y="2834640"/>
            <a:ext cx="640080" cy="640080"/>
          </a:xfrm>
          <a:prstGeom prst="ellipse">
            <a:avLst/>
          </a:prstGeom>
          <a:solidFill>
            <a:schemeClr val="accent1"/>
          </a:solidFill>
          <a:ln/>
        </p:spPr>
      </p:sp>
      <p:sp>
        <p:nvSpPr>
          <p:cNvPr id="6" name="Text 4"/>
          <p:cNvSpPr txBox="1"/>
          <p:nvPr/>
        </p:nvSpPr>
        <p:spPr>
          <a:xfrm>
            <a:off x="777240" y="2834640"/>
            <a:ext cx="640080" cy="640080"/>
          </a:xfrm>
          <a:prstGeom prst="rect">
            <a:avLst/>
          </a:prstGeom>
          <a:noFill/>
          <a:ln/>
        </p:spPr>
        <p:txBody>
          <a:bodyPr wrap="square" lIns="0" tIns="0" rIns="0" bIns="0" rtlCol="0" anchor="ctr"/>
          <a:lstStyle/>
          <a:p>
            <a:pPr algn="ctr" indent="0" marL="0">
              <a:buNone/>
            </a:pPr>
            <a:r>
              <a:rPr lang="en-US" sz="2600" b="1" dirty="0">
                <a:solidFill>
                  <a:schemeClr val="bg2"/>
                </a:solidFill>
              </a:rPr>
              <a:t>1</a:t>
            </a:r>
            <a:endParaRPr lang="en-US" sz="2600" dirty="0"/>
          </a:p>
        </p:txBody>
      </p:sp>
      <p:sp>
        <p:nvSpPr>
          <p:cNvPr id="7" name="Text 5"/>
          <p:cNvSpPr txBox="1"/>
          <p:nvPr/>
        </p:nvSpPr>
        <p:spPr>
          <a:xfrm>
            <a:off x="777240" y="3657600"/>
            <a:ext cx="2148840" cy="411480"/>
          </a:xfrm>
          <a:prstGeom prst="rect">
            <a:avLst/>
          </a:prstGeom>
          <a:noFill/>
          <a:ln/>
        </p:spPr>
        <p:txBody>
          <a:bodyPr wrap="square" lIns="0" tIns="0" rIns="0" bIns="0" rtlCol="0" anchor="t"/>
          <a:lstStyle/>
          <a:p>
            <a:pPr indent="0" marL="0">
              <a:buNone/>
            </a:pPr>
            <a:r>
              <a:rPr lang="en-US" sz="2200" b="1" dirty="0">
                <a:solidFill>
                  <a:schemeClr val="accent1"/>
                </a:solidFill>
              </a:rPr>
              <a:t>Identificar</a:t>
            </a:r>
            <a:endParaRPr lang="en-US" sz="2200" dirty="0"/>
          </a:p>
        </p:txBody>
      </p:sp>
      <p:sp>
        <p:nvSpPr>
          <p:cNvPr id="8" name="Text 6"/>
          <p:cNvSpPr txBox="1"/>
          <p:nvPr/>
        </p:nvSpPr>
        <p:spPr>
          <a:xfrm>
            <a:off x="777240" y="4114800"/>
            <a:ext cx="2148840" cy="777240"/>
          </a:xfrm>
          <a:prstGeom prst="rect">
            <a:avLst/>
          </a:prstGeom>
          <a:noFill/>
          <a:ln/>
        </p:spPr>
        <p:txBody>
          <a:bodyPr wrap="square" lIns="0" tIns="0" rIns="0" bIns="0" rtlCol="0" anchor="t"/>
          <a:lstStyle/>
          <a:p>
            <a:pPr indent="0" marL="0">
              <a:buNone/>
            </a:pPr>
            <a:r>
              <a:rPr lang="en-US" sz="1500" dirty="0">
                <a:solidFill>
                  <a:schemeClr val="tx1"/>
                </a:solidFill>
              </a:rPr>
              <a:t>Elegir el tipo de problema</a:t>
            </a:r>
            <a:endParaRPr lang="en-US" sz="1500" dirty="0"/>
          </a:p>
        </p:txBody>
      </p:sp>
      <p:sp>
        <p:nvSpPr>
          <p:cNvPr id="9" name="Shape 7"/>
          <p:cNvSpPr/>
          <p:nvPr/>
        </p:nvSpPr>
        <p:spPr>
          <a:xfrm>
            <a:off x="3392424" y="2606040"/>
            <a:ext cx="2560320" cy="2377440"/>
          </a:xfrm>
          <a:prstGeom prst="roundRect">
            <a:avLst>
              <a:gd name="adj" fmla="val 6923"/>
            </a:avLst>
          </a:prstGeom>
          <a:solidFill>
            <a:schemeClr val="accent3"/>
          </a:solidFill>
          <a:ln/>
        </p:spPr>
      </p:sp>
      <p:sp>
        <p:nvSpPr>
          <p:cNvPr id="10" name="Shape 8"/>
          <p:cNvSpPr/>
          <p:nvPr/>
        </p:nvSpPr>
        <p:spPr>
          <a:xfrm>
            <a:off x="3621024" y="2834640"/>
            <a:ext cx="640080" cy="640080"/>
          </a:xfrm>
          <a:prstGeom prst="ellipse">
            <a:avLst/>
          </a:prstGeom>
          <a:solidFill>
            <a:schemeClr val="accent1"/>
          </a:solidFill>
          <a:ln/>
        </p:spPr>
      </p:sp>
      <p:sp>
        <p:nvSpPr>
          <p:cNvPr id="11" name="Text 9"/>
          <p:cNvSpPr txBox="1"/>
          <p:nvPr/>
        </p:nvSpPr>
        <p:spPr>
          <a:xfrm>
            <a:off x="3621024" y="2834640"/>
            <a:ext cx="640080" cy="640080"/>
          </a:xfrm>
          <a:prstGeom prst="rect">
            <a:avLst/>
          </a:prstGeom>
          <a:noFill/>
          <a:ln/>
        </p:spPr>
        <p:txBody>
          <a:bodyPr wrap="square" lIns="0" tIns="0" rIns="0" bIns="0" rtlCol="0" anchor="ctr"/>
          <a:lstStyle/>
          <a:p>
            <a:pPr algn="ctr" indent="0" marL="0">
              <a:buNone/>
            </a:pPr>
            <a:r>
              <a:rPr lang="en-US" sz="2600" b="1" dirty="0">
                <a:solidFill>
                  <a:schemeClr val="bg2"/>
                </a:solidFill>
              </a:rPr>
              <a:t>2</a:t>
            </a:r>
            <a:endParaRPr lang="en-US" sz="2600" dirty="0"/>
          </a:p>
        </p:txBody>
      </p:sp>
      <p:sp>
        <p:nvSpPr>
          <p:cNvPr id="12" name="Text 10"/>
          <p:cNvSpPr txBox="1"/>
          <p:nvPr/>
        </p:nvSpPr>
        <p:spPr>
          <a:xfrm>
            <a:off x="3621024" y="3657600"/>
            <a:ext cx="2148840" cy="411480"/>
          </a:xfrm>
          <a:prstGeom prst="rect">
            <a:avLst/>
          </a:prstGeom>
          <a:noFill/>
          <a:ln/>
        </p:spPr>
        <p:txBody>
          <a:bodyPr wrap="square" lIns="0" tIns="0" rIns="0" bIns="0" rtlCol="0" anchor="t"/>
          <a:lstStyle/>
          <a:p>
            <a:pPr indent="0" marL="0">
              <a:buNone/>
            </a:pPr>
            <a:r>
              <a:rPr lang="en-US" sz="2200" b="1" dirty="0">
                <a:solidFill>
                  <a:schemeClr val="accent1"/>
                </a:solidFill>
              </a:rPr>
              <a:t>Contar</a:t>
            </a:r>
            <a:endParaRPr lang="en-US" sz="2200" dirty="0"/>
          </a:p>
        </p:txBody>
      </p:sp>
      <p:sp>
        <p:nvSpPr>
          <p:cNvPr id="13" name="Text 11"/>
          <p:cNvSpPr txBox="1"/>
          <p:nvPr/>
        </p:nvSpPr>
        <p:spPr>
          <a:xfrm>
            <a:off x="3621024" y="4114800"/>
            <a:ext cx="2148840" cy="777240"/>
          </a:xfrm>
          <a:prstGeom prst="rect">
            <a:avLst/>
          </a:prstGeom>
          <a:noFill/>
          <a:ln/>
        </p:spPr>
        <p:txBody>
          <a:bodyPr wrap="square" lIns="0" tIns="0" rIns="0" bIns="0" rtlCol="0" anchor="t"/>
          <a:lstStyle/>
          <a:p>
            <a:pPr indent="0" marL="0">
              <a:buNone/>
            </a:pPr>
            <a:r>
              <a:rPr lang="en-US" sz="1500" dirty="0">
                <a:solidFill>
                  <a:schemeClr val="tx1"/>
                </a:solidFill>
              </a:rPr>
              <a:t>Escribir o grabar lo ocurrido</a:t>
            </a:r>
            <a:endParaRPr lang="en-US" sz="1500" dirty="0"/>
          </a:p>
        </p:txBody>
      </p:sp>
      <p:sp>
        <p:nvSpPr>
          <p:cNvPr id="14" name="Shape 12"/>
          <p:cNvSpPr/>
          <p:nvPr/>
        </p:nvSpPr>
        <p:spPr>
          <a:xfrm>
            <a:off x="6236208" y="2606040"/>
            <a:ext cx="2560320" cy="2377440"/>
          </a:xfrm>
          <a:prstGeom prst="roundRect">
            <a:avLst>
              <a:gd name="adj" fmla="val 6923"/>
            </a:avLst>
          </a:prstGeom>
          <a:solidFill>
            <a:schemeClr val="accent3"/>
          </a:solidFill>
          <a:ln/>
        </p:spPr>
      </p:sp>
      <p:sp>
        <p:nvSpPr>
          <p:cNvPr id="15" name="Shape 13"/>
          <p:cNvSpPr/>
          <p:nvPr/>
        </p:nvSpPr>
        <p:spPr>
          <a:xfrm>
            <a:off x="6464808" y="2834640"/>
            <a:ext cx="640080" cy="640080"/>
          </a:xfrm>
          <a:prstGeom prst="ellipse">
            <a:avLst/>
          </a:prstGeom>
          <a:solidFill>
            <a:schemeClr val="accent1"/>
          </a:solidFill>
          <a:ln/>
        </p:spPr>
      </p:sp>
      <p:sp>
        <p:nvSpPr>
          <p:cNvPr id="16" name="Text 14"/>
          <p:cNvSpPr txBox="1"/>
          <p:nvPr/>
        </p:nvSpPr>
        <p:spPr>
          <a:xfrm>
            <a:off x="6464808" y="2834640"/>
            <a:ext cx="640080" cy="640080"/>
          </a:xfrm>
          <a:prstGeom prst="rect">
            <a:avLst/>
          </a:prstGeom>
          <a:noFill/>
          <a:ln/>
        </p:spPr>
        <p:txBody>
          <a:bodyPr wrap="square" lIns="0" tIns="0" rIns="0" bIns="0" rtlCol="0" anchor="ctr"/>
          <a:lstStyle/>
          <a:p>
            <a:pPr algn="ctr" indent="0" marL="0">
              <a:buNone/>
            </a:pPr>
            <a:r>
              <a:rPr lang="en-US" sz="2600" b="1" dirty="0">
                <a:solidFill>
                  <a:schemeClr val="bg2"/>
                </a:solidFill>
              </a:rPr>
              <a:t>3</a:t>
            </a:r>
            <a:endParaRPr lang="en-US" sz="2600" dirty="0"/>
          </a:p>
        </p:txBody>
      </p:sp>
      <p:sp>
        <p:nvSpPr>
          <p:cNvPr id="17" name="Text 15"/>
          <p:cNvSpPr txBox="1"/>
          <p:nvPr/>
        </p:nvSpPr>
        <p:spPr>
          <a:xfrm>
            <a:off x="6464808" y="3657600"/>
            <a:ext cx="2148840" cy="411480"/>
          </a:xfrm>
          <a:prstGeom prst="rect">
            <a:avLst/>
          </a:prstGeom>
          <a:noFill/>
          <a:ln/>
        </p:spPr>
        <p:txBody>
          <a:bodyPr wrap="square" lIns="0" tIns="0" rIns="0" bIns="0" rtlCol="0" anchor="t"/>
          <a:lstStyle/>
          <a:p>
            <a:pPr indent="0" marL="0">
              <a:buNone/>
            </a:pPr>
            <a:r>
              <a:rPr lang="en-US" sz="2200" b="1" dirty="0">
                <a:solidFill>
                  <a:schemeClr val="accent1"/>
                </a:solidFill>
              </a:rPr>
              <a:t>Comprender</a:t>
            </a:r>
            <a:endParaRPr lang="en-US" sz="2200" dirty="0"/>
          </a:p>
        </p:txBody>
      </p:sp>
      <p:sp>
        <p:nvSpPr>
          <p:cNvPr id="18" name="Text 16"/>
          <p:cNvSpPr txBox="1"/>
          <p:nvPr/>
        </p:nvSpPr>
        <p:spPr>
          <a:xfrm>
            <a:off x="6464808" y="4114800"/>
            <a:ext cx="2148840" cy="777240"/>
          </a:xfrm>
          <a:prstGeom prst="rect">
            <a:avLst/>
          </a:prstGeom>
          <a:noFill/>
          <a:ln/>
        </p:spPr>
        <p:txBody>
          <a:bodyPr wrap="square" lIns="0" tIns="0" rIns="0" bIns="0" rtlCol="0" anchor="t"/>
          <a:lstStyle/>
          <a:p>
            <a:pPr indent="0" marL="0">
              <a:buNone/>
            </a:pPr>
            <a:r>
              <a:rPr lang="en-US" sz="1500" dirty="0">
                <a:solidFill>
                  <a:schemeClr val="tx1"/>
                </a:solidFill>
              </a:rPr>
              <a:t>Saber qué derecho está en juego y a dónde acudir</a:t>
            </a:r>
            <a:endParaRPr lang="en-US" sz="1500" dirty="0"/>
          </a:p>
        </p:txBody>
      </p:sp>
      <p:sp>
        <p:nvSpPr>
          <p:cNvPr id="19" name="Shape 17"/>
          <p:cNvSpPr/>
          <p:nvPr/>
        </p:nvSpPr>
        <p:spPr>
          <a:xfrm>
            <a:off x="9079992" y="2606040"/>
            <a:ext cx="2560320" cy="2377440"/>
          </a:xfrm>
          <a:prstGeom prst="roundRect">
            <a:avLst>
              <a:gd name="adj" fmla="val 6923"/>
            </a:avLst>
          </a:prstGeom>
          <a:solidFill>
            <a:schemeClr val="accent3"/>
          </a:solidFill>
          <a:ln/>
        </p:spPr>
      </p:sp>
      <p:sp>
        <p:nvSpPr>
          <p:cNvPr id="20" name="Shape 18"/>
          <p:cNvSpPr/>
          <p:nvPr/>
        </p:nvSpPr>
        <p:spPr>
          <a:xfrm>
            <a:off x="9308592" y="2834640"/>
            <a:ext cx="640080" cy="640080"/>
          </a:xfrm>
          <a:prstGeom prst="ellipse">
            <a:avLst/>
          </a:prstGeom>
          <a:solidFill>
            <a:schemeClr val="accent1"/>
          </a:solidFill>
          <a:ln/>
        </p:spPr>
      </p:sp>
      <p:sp>
        <p:nvSpPr>
          <p:cNvPr id="21" name="Text 19"/>
          <p:cNvSpPr txBox="1"/>
          <p:nvPr/>
        </p:nvSpPr>
        <p:spPr>
          <a:xfrm>
            <a:off x="9308592" y="2834640"/>
            <a:ext cx="640080" cy="640080"/>
          </a:xfrm>
          <a:prstGeom prst="rect">
            <a:avLst/>
          </a:prstGeom>
          <a:noFill/>
          <a:ln/>
        </p:spPr>
        <p:txBody>
          <a:bodyPr wrap="square" lIns="0" tIns="0" rIns="0" bIns="0" rtlCol="0" anchor="ctr"/>
          <a:lstStyle/>
          <a:p>
            <a:pPr algn="ctr" indent="0" marL="0">
              <a:buNone/>
            </a:pPr>
            <a:r>
              <a:rPr lang="en-US" sz="2600" b="1" dirty="0">
                <a:solidFill>
                  <a:schemeClr val="bg2"/>
                </a:solidFill>
              </a:rPr>
              <a:t>4</a:t>
            </a:r>
            <a:endParaRPr lang="en-US" sz="2600" dirty="0"/>
          </a:p>
        </p:txBody>
      </p:sp>
      <p:sp>
        <p:nvSpPr>
          <p:cNvPr id="22" name="Text 20"/>
          <p:cNvSpPr txBox="1"/>
          <p:nvPr/>
        </p:nvSpPr>
        <p:spPr>
          <a:xfrm>
            <a:off x="9308592" y="3657600"/>
            <a:ext cx="2148840" cy="411480"/>
          </a:xfrm>
          <a:prstGeom prst="rect">
            <a:avLst/>
          </a:prstGeom>
          <a:noFill/>
          <a:ln/>
        </p:spPr>
        <p:txBody>
          <a:bodyPr wrap="square" lIns="0" tIns="0" rIns="0" bIns="0" rtlCol="0" anchor="t"/>
          <a:lstStyle/>
          <a:p>
            <a:pPr indent="0" marL="0">
              <a:buNone/>
            </a:pPr>
            <a:r>
              <a:rPr lang="en-US" sz="2200" b="1" dirty="0">
                <a:solidFill>
                  <a:schemeClr val="accent1"/>
                </a:solidFill>
              </a:rPr>
              <a:t>Actuar</a:t>
            </a:r>
            <a:endParaRPr lang="en-US" sz="2200" dirty="0"/>
          </a:p>
        </p:txBody>
      </p:sp>
      <p:sp>
        <p:nvSpPr>
          <p:cNvPr id="23" name="Text 21"/>
          <p:cNvSpPr txBox="1"/>
          <p:nvPr/>
        </p:nvSpPr>
        <p:spPr>
          <a:xfrm>
            <a:off x="9308592" y="4114800"/>
            <a:ext cx="2148840" cy="777240"/>
          </a:xfrm>
          <a:prstGeom prst="rect">
            <a:avLst/>
          </a:prstGeom>
          <a:noFill/>
          <a:ln/>
        </p:spPr>
        <p:txBody>
          <a:bodyPr wrap="square" lIns="0" tIns="0" rIns="0" bIns="0" rtlCol="0" anchor="t"/>
          <a:lstStyle/>
          <a:p>
            <a:pPr indent="0" marL="0">
              <a:buNone/>
            </a:pPr>
            <a:r>
              <a:rPr lang="en-US" sz="1500" dirty="0">
                <a:solidFill>
                  <a:schemeClr val="tx1"/>
                </a:solidFill>
              </a:rPr>
              <a:t>Seguir una ruta y preparar un documento si hace falta</a:t>
            </a:r>
            <a:endParaRPr lang="en-US" sz="1500" dirty="0"/>
          </a:p>
        </p:txBody>
      </p:sp>
      <p:pic>
        <p:nvPicPr>
          <p:cNvPr id="24" name="Image 0" descr="Búho de MiDerecho (lupa)">    </p:cNvPr>
          <p:cNvPicPr>
            <a:picLocks noChangeAspect="1"/>
          </p:cNvPicPr>
          <p:nvPr/>
        </p:nvPicPr>
        <p:blipFill>
          <a:blip r:embed="rId1"/>
          <a:stretch>
            <a:fillRect/>
          </a:stretch>
        </p:blipFill>
        <p:spPr>
          <a:xfrm>
            <a:off x="10744200" y="5029200"/>
            <a:ext cx="1059628" cy="1371600"/>
          </a:xfrm>
          <a:prstGeom prst="rect">
            <a:avLst/>
          </a:prstGeom>
        </p:spPr>
      </p:pic>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5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97280"/>
          </a:xfrm>
          <a:prstGeom prst="rect">
            <a:avLst/>
          </a:prstGeom>
          <a:noFill/>
          <a:ln/>
        </p:spPr>
        <p:txBody>
          <a:bodyPr wrap="square" lIns="0" tIns="0" rIns="0" bIns="0" rtlCol="0" anchor="ctr"/>
          <a:lstStyle/>
          <a:p>
            <a:pPr algn="ctr" indent="0" marL="0">
              <a:buNone/>
            </a:pPr>
            <a:r>
              <a:rPr lang="en-US" sz="3000" b="1" dirty="0">
                <a:solidFill>
                  <a:schemeClr val="tx1"/>
                </a:solidFill>
              </a:rPr>
              <a:t>CUENTA SU CASO CON SU VOZ</a:t>
            </a:r>
            <a:endParaRPr lang="en-US" sz="3000" dirty="0"/>
          </a:p>
        </p:txBody>
      </p:sp>
      <p:sp>
        <p:nvSpPr>
          <p:cNvPr id="3" name="Shape 1"/>
          <p:cNvSpPr/>
          <p:nvPr/>
        </p:nvSpPr>
        <p:spPr>
          <a:xfrm>
            <a:off x="548640" y="1691640"/>
            <a:ext cx="1600200" cy="384048"/>
          </a:xfrm>
          <a:prstGeom prst="roundRect">
            <a:avLst>
              <a:gd name="adj" fmla="val 50000"/>
            </a:avLst>
          </a:prstGeom>
          <a:solidFill>
            <a:schemeClr val="accent3"/>
          </a:solidFill>
          <a:ln/>
        </p:spPr>
      </p:sp>
      <p:sp>
        <p:nvSpPr>
          <p:cNvPr id="4" name="Text 2"/>
          <p:cNvSpPr txBox="1"/>
          <p:nvPr/>
        </p:nvSpPr>
        <p:spPr>
          <a:xfrm>
            <a:off x="548640" y="1691640"/>
            <a:ext cx="1600200" cy="384048"/>
          </a:xfrm>
          <a:prstGeom prst="rect">
            <a:avLst/>
          </a:prstGeom>
          <a:noFill/>
          <a:ln/>
        </p:spPr>
        <p:txBody>
          <a:bodyPr wrap="square" lIns="0" tIns="0" rIns="0" bIns="0" rtlCol="0" anchor="ctr"/>
          <a:lstStyle/>
          <a:p>
            <a:pPr algn="ctr" indent="0" marL="0">
              <a:buNone/>
            </a:pPr>
            <a:r>
              <a:rPr lang="en-US" sz="1300" b="1" spc="100" kern="0" dirty="0">
                <a:solidFill>
                  <a:schemeClr val="accent1"/>
                </a:solidFill>
              </a:rPr>
              <a:t>PASO 1 DE 6</a:t>
            </a:r>
            <a:endParaRPr lang="en-US" sz="1300" dirty="0"/>
          </a:p>
        </p:txBody>
      </p:sp>
      <p:sp>
        <p:nvSpPr>
          <p:cNvPr id="5" name="Text 3"/>
          <p:cNvSpPr txBox="1"/>
          <p:nvPr/>
        </p:nvSpPr>
        <p:spPr>
          <a:xfrm>
            <a:off x="548640" y="2331720"/>
            <a:ext cx="4069080" cy="356616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Escribe o toca «Contar con mi voz»: un asistente de voz conversa con la persona.</a:t>
            </a:r>
            <a:endParaRPr lang="en-US" sz="1700" dirty="0"/>
          </a:p>
          <a:p>
            <a:pPr marL="228600" indent="-228600">
              <a:spcAft>
                <a:spcPts val="1000"/>
              </a:spcAft>
              <a:buSzPct val="100000"/>
              <a:buChar char="•"/>
            </a:pPr>
            <a:r>
              <a:rPr lang="en-US" sz="1700" dirty="0">
                <a:solidFill>
                  <a:schemeClr val="tx1"/>
                </a:solidFill>
              </a:rPr>
              <a:t>La IA (Claude o Gemini) pregunta solo lo necesario.</a:t>
            </a:r>
            <a:endParaRPr lang="en-US" sz="1700" dirty="0"/>
          </a:p>
          <a:p>
            <a:pPr marL="228600" indent="-228600">
              <a:spcAft>
                <a:spcPts val="1000"/>
              </a:spcAft>
              <a:buSzPct val="100000"/>
              <a:buChar char="•"/>
            </a:pPr>
            <a:r>
              <a:rPr lang="en-US" sz="1700" dirty="0">
                <a:solidFill>
                  <a:schemeClr val="tx1"/>
                </a:solidFill>
              </a:rPr>
              <a:t>Antes de enviar el relato se quitan cédulas, teléfonos y correos, en el celular y en el servidor.</a:t>
            </a:r>
            <a:endParaRPr lang="en-US" sz="1700" dirty="0"/>
          </a:p>
        </p:txBody>
      </p:sp>
      <p:pic>
        <p:nvPicPr>
          <p:cNvPr id="26" name="Video 2-voz">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892040" y="1600200"/>
            <a:ext cx="6748272" cy="3795903"/>
          </a:xfrm>
          <a:prstGeom prst="rect">
            <a:avLst/>
          </a:prstGeom>
        </p:spPr>
      </p:pic>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5F"/>
                </a:solidFill>
              </a:defRPr>
            </a:lvl1pPr>
          </a:lstStyle>
          <a:p>
            <a:pPr algn="r"/>
            <a:fld id="{F7021451-1387-4CA6-816F-3879F97B5CBC}" type="slidenum">
              <a:rPr b="0" lang="en-US"/>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6"/>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97280"/>
          </a:xfrm>
          <a:prstGeom prst="rect">
            <a:avLst/>
          </a:prstGeom>
          <a:noFill/>
          <a:ln/>
        </p:spPr>
        <p:txBody>
          <a:bodyPr wrap="square" lIns="0" tIns="0" rIns="0" bIns="0" rtlCol="0" anchor="ctr"/>
          <a:lstStyle/>
          <a:p>
            <a:pPr algn="ctr" indent="0" marL="0">
              <a:buNone/>
            </a:pPr>
            <a:r>
              <a:rPr lang="en-US" sz="3000" b="1" dirty="0">
                <a:solidFill>
                  <a:schemeClr val="tx1"/>
                </a:solidFill>
              </a:rPr>
              <a:t>RECIBE ORIENTACIÓN CLARA</a:t>
            </a:r>
            <a:endParaRPr lang="en-US" sz="3000" dirty="0"/>
          </a:p>
        </p:txBody>
      </p:sp>
      <p:sp>
        <p:nvSpPr>
          <p:cNvPr id="3" name="Shape 1"/>
          <p:cNvSpPr/>
          <p:nvPr/>
        </p:nvSpPr>
        <p:spPr>
          <a:xfrm>
            <a:off x="548640" y="1691640"/>
            <a:ext cx="1600200" cy="384048"/>
          </a:xfrm>
          <a:prstGeom prst="roundRect">
            <a:avLst>
              <a:gd name="adj" fmla="val 50000"/>
            </a:avLst>
          </a:prstGeom>
          <a:solidFill>
            <a:schemeClr val="accent3"/>
          </a:solidFill>
          <a:ln/>
        </p:spPr>
      </p:sp>
      <p:sp>
        <p:nvSpPr>
          <p:cNvPr id="4" name="Text 2"/>
          <p:cNvSpPr txBox="1"/>
          <p:nvPr/>
        </p:nvSpPr>
        <p:spPr>
          <a:xfrm>
            <a:off x="548640" y="1691640"/>
            <a:ext cx="1600200" cy="384048"/>
          </a:xfrm>
          <a:prstGeom prst="rect">
            <a:avLst/>
          </a:prstGeom>
          <a:noFill/>
          <a:ln/>
        </p:spPr>
        <p:txBody>
          <a:bodyPr wrap="square" lIns="0" tIns="0" rIns="0" bIns="0" rtlCol="0" anchor="ctr"/>
          <a:lstStyle/>
          <a:p>
            <a:pPr algn="ctr" indent="0" marL="0">
              <a:buNone/>
            </a:pPr>
            <a:r>
              <a:rPr lang="en-US" sz="1300" b="1" spc="100" kern="0" dirty="0">
                <a:solidFill>
                  <a:schemeClr val="accent1"/>
                </a:solidFill>
              </a:rPr>
              <a:t>PASO 2 DE 6</a:t>
            </a:r>
            <a:endParaRPr lang="en-US" sz="1300" dirty="0"/>
          </a:p>
        </p:txBody>
      </p:sp>
      <p:sp>
        <p:nvSpPr>
          <p:cNvPr id="5" name="Text 3"/>
          <p:cNvSpPr txBox="1"/>
          <p:nvPr/>
        </p:nvSpPr>
        <p:spPr>
          <a:xfrm>
            <a:off x="548640" y="2331720"/>
            <a:ext cx="4069080" cy="356616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Qué significa lo que le pasa y qué derecho podría estar en juego.</a:t>
            </a:r>
            <a:endParaRPr lang="en-US" sz="1700" dirty="0"/>
          </a:p>
          <a:p>
            <a:pPr marL="228600" indent="-228600">
              <a:spcAft>
                <a:spcPts val="1000"/>
              </a:spcAft>
              <a:buSzPct val="100000"/>
              <a:buChar char="•"/>
            </a:pPr>
            <a:r>
              <a:rPr lang="en-US" sz="1700" dirty="0">
                <a:solidFill>
                  <a:schemeClr val="tx1"/>
                </a:solidFill>
              </a:rPr>
              <a:t>Los pasos a seguir y a dónde acudir.</a:t>
            </a:r>
            <a:endParaRPr lang="en-US" sz="1700" dirty="0"/>
          </a:p>
          <a:p>
            <a:pPr marL="228600" indent="-228600">
              <a:spcAft>
                <a:spcPts val="1000"/>
              </a:spcAft>
              <a:buSzPct val="100000"/>
              <a:buChar char="•"/>
            </a:pPr>
            <a:r>
              <a:rPr lang="en-US" sz="1700" dirty="0">
                <a:solidFill>
                  <a:schemeClr val="tx1"/>
                </a:solidFill>
              </a:rPr>
              <a:t>«Qué dice la ley» sale de contenido fijo, no de la IA.</a:t>
            </a:r>
            <a:endParaRPr lang="en-US" sz="1700" dirty="0"/>
          </a:p>
          <a:p>
            <a:pPr marL="228600" indent="-228600">
              <a:spcAft>
                <a:spcPts val="1000"/>
              </a:spcAft>
              <a:buSzPct val="100000"/>
              <a:buChar char="•"/>
            </a:pPr>
            <a:r>
              <a:rPr lang="en-US" sz="1700" dirty="0">
                <a:solidFill>
                  <a:schemeClr val="tx1"/>
                </a:solidFill>
              </a:rPr>
              <a:t>Para trabajo, vecinos o familia: una ruta sin documento.</a:t>
            </a:r>
            <a:endParaRPr lang="en-US" sz="1700" dirty="0"/>
          </a:p>
        </p:txBody>
      </p:sp>
      <p:pic>
        <p:nvPicPr>
          <p:cNvPr id="26" name="Video 3-orientacion">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892040" y="1600200"/>
            <a:ext cx="6748272" cy="3795903"/>
          </a:xfrm>
          <a:prstGeom prst="rect">
            <a:avLst/>
          </a:prstGeom>
        </p:spPr>
      </p:pic>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5F"/>
                </a:solidFill>
              </a:defRPr>
            </a:lvl1pPr>
          </a:lstStyle>
          <a:p>
            <a:pPr algn="r"/>
            <a:fld id="{F7021451-1387-4CA6-816F-3879F97B5CBC}" type="slidenum">
              <a:rPr b="0" lang="en-US"/>
              <a:t>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6"/>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97280"/>
          </a:xfrm>
          <a:prstGeom prst="rect">
            <a:avLst/>
          </a:prstGeom>
          <a:noFill/>
          <a:ln/>
        </p:spPr>
        <p:txBody>
          <a:bodyPr wrap="square" lIns="0" tIns="0" rIns="0" bIns="0" rtlCol="0" anchor="ctr"/>
          <a:lstStyle/>
          <a:p>
            <a:pPr algn="ctr" indent="0" marL="0">
              <a:buNone/>
            </a:pPr>
            <a:r>
              <a:rPr lang="en-US" sz="3000" b="1" dirty="0">
                <a:solidFill>
                  <a:schemeClr val="tx1"/>
                </a:solidFill>
              </a:rPr>
              <a:t>EL DOCUMENTO QUEDA LISTO, SIN ABOGADO</a:t>
            </a:r>
            <a:endParaRPr lang="en-US" sz="3000" dirty="0"/>
          </a:p>
        </p:txBody>
      </p:sp>
      <p:sp>
        <p:nvSpPr>
          <p:cNvPr id="3" name="Shape 1"/>
          <p:cNvSpPr/>
          <p:nvPr/>
        </p:nvSpPr>
        <p:spPr>
          <a:xfrm>
            <a:off x="548640" y="1691640"/>
            <a:ext cx="1600200" cy="384048"/>
          </a:xfrm>
          <a:prstGeom prst="roundRect">
            <a:avLst>
              <a:gd name="adj" fmla="val 50000"/>
            </a:avLst>
          </a:prstGeom>
          <a:solidFill>
            <a:schemeClr val="accent3"/>
          </a:solidFill>
          <a:ln/>
        </p:spPr>
      </p:sp>
      <p:sp>
        <p:nvSpPr>
          <p:cNvPr id="4" name="Text 2"/>
          <p:cNvSpPr txBox="1"/>
          <p:nvPr/>
        </p:nvSpPr>
        <p:spPr>
          <a:xfrm>
            <a:off x="548640" y="1691640"/>
            <a:ext cx="1600200" cy="384048"/>
          </a:xfrm>
          <a:prstGeom prst="rect">
            <a:avLst/>
          </a:prstGeom>
          <a:noFill/>
          <a:ln/>
        </p:spPr>
        <p:txBody>
          <a:bodyPr wrap="square" lIns="0" tIns="0" rIns="0" bIns="0" rtlCol="0" anchor="ctr"/>
          <a:lstStyle/>
          <a:p>
            <a:pPr algn="ctr" indent="0" marL="0">
              <a:buNone/>
            </a:pPr>
            <a:r>
              <a:rPr lang="en-US" sz="1300" b="1" spc="100" kern="0" dirty="0">
                <a:solidFill>
                  <a:schemeClr val="accent1"/>
                </a:solidFill>
              </a:rPr>
              <a:t>PASO 3 DE 6</a:t>
            </a:r>
            <a:endParaRPr lang="en-US" sz="1300" dirty="0"/>
          </a:p>
        </p:txBody>
      </p:sp>
      <p:sp>
        <p:nvSpPr>
          <p:cNvPr id="5" name="Text 3"/>
          <p:cNvSpPr txBox="1"/>
          <p:nvPr/>
        </p:nvSpPr>
        <p:spPr>
          <a:xfrm>
            <a:off x="548640" y="2331720"/>
            <a:ext cx="4069080" cy="356616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Derecho de petición, tutela de salud y tutela o reclamo de servicios públicos.</a:t>
            </a:r>
            <a:endParaRPr lang="en-US" sz="1700" dirty="0"/>
          </a:p>
          <a:p>
            <a:pPr marL="228600" indent="-228600">
              <a:spcAft>
                <a:spcPts val="1000"/>
              </a:spcAft>
              <a:buSzPct val="100000"/>
              <a:buChar char="•"/>
            </a:pPr>
            <a:r>
              <a:rPr lang="en-US" sz="1700" dirty="0">
                <a:solidFill>
                  <a:schemeClr val="tx1"/>
                </a:solidFill>
              </a:rPr>
              <a:t>Plantillas fijas: lo que salió del relato viene marcado con ✓.</a:t>
            </a:r>
            <a:endParaRPr lang="en-US" sz="1700" dirty="0"/>
          </a:p>
          <a:p>
            <a:pPr marL="228600" indent="-228600">
              <a:spcAft>
                <a:spcPts val="1000"/>
              </a:spcAft>
              <a:buSzPct val="100000"/>
              <a:buChar char="•"/>
            </a:pPr>
            <a:r>
              <a:rPr lang="en-US" sz="1700" dirty="0">
                <a:solidFill>
                  <a:schemeClr val="tx1"/>
                </a:solidFill>
              </a:rPr>
              <a:t>Nombre y cédula se piden al final: van al papel, nunca a la IA.</a:t>
            </a:r>
            <a:endParaRPr lang="en-US" sz="1700" dirty="0"/>
          </a:p>
          <a:p>
            <a:pPr marL="228600" indent="-228600">
              <a:spcAft>
                <a:spcPts val="1000"/>
              </a:spcAft>
              <a:buSzPct val="100000"/>
              <a:buChar char="•"/>
            </a:pPr>
            <a:r>
              <a:rPr lang="en-US" sz="1700" dirty="0">
                <a:solidFill>
                  <a:schemeClr val="tx1"/>
                </a:solidFill>
              </a:rPr>
              <a:t>Se arma sin internet.</a:t>
            </a:r>
            <a:endParaRPr lang="en-US" sz="1700" dirty="0"/>
          </a:p>
        </p:txBody>
      </p:sp>
      <p:pic>
        <p:nvPicPr>
          <p:cNvPr id="26" name="Video 4-document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892040" y="1600200"/>
            <a:ext cx="6748272" cy="3795903"/>
          </a:xfrm>
          <a:prstGeom prst="rect">
            <a:avLst/>
          </a:prstGeom>
        </p:spPr>
      </p:pic>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5F"/>
                </a:solidFill>
              </a:defRPr>
            </a:lvl1pPr>
          </a:lstStyle>
          <a:p>
            <a:pPr algn="r"/>
            <a:fld id="{F7021451-1387-4CA6-816F-3879F97B5CBC}" type="slidenum">
              <a:rPr b="0" lang="en-US"/>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6"/>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97280"/>
          </a:xfrm>
          <a:prstGeom prst="rect">
            <a:avLst/>
          </a:prstGeom>
          <a:noFill/>
          <a:ln/>
        </p:spPr>
        <p:txBody>
          <a:bodyPr wrap="square" lIns="0" tIns="0" rIns="0" bIns="0" rtlCol="0" anchor="ctr"/>
          <a:lstStyle/>
          <a:p>
            <a:pPr algn="ctr" indent="0" marL="0">
              <a:buNone/>
            </a:pPr>
            <a:r>
              <a:rPr lang="en-US" sz="3000" b="1" dirty="0">
                <a:solidFill>
                  <a:schemeClr val="tx1"/>
                </a:solidFill>
              </a:rPr>
              <a:t>LO ENVÍA SIN VIAJAR</a:t>
            </a:r>
            <a:endParaRPr lang="en-US" sz="3000" dirty="0"/>
          </a:p>
        </p:txBody>
      </p:sp>
      <p:sp>
        <p:nvSpPr>
          <p:cNvPr id="3" name="Shape 1"/>
          <p:cNvSpPr/>
          <p:nvPr/>
        </p:nvSpPr>
        <p:spPr>
          <a:xfrm>
            <a:off x="548640" y="1691640"/>
            <a:ext cx="1600200" cy="384048"/>
          </a:xfrm>
          <a:prstGeom prst="roundRect">
            <a:avLst>
              <a:gd name="adj" fmla="val 50000"/>
            </a:avLst>
          </a:prstGeom>
          <a:solidFill>
            <a:schemeClr val="accent3"/>
          </a:solidFill>
          <a:ln/>
        </p:spPr>
      </p:sp>
      <p:sp>
        <p:nvSpPr>
          <p:cNvPr id="4" name="Text 2"/>
          <p:cNvSpPr txBox="1"/>
          <p:nvPr/>
        </p:nvSpPr>
        <p:spPr>
          <a:xfrm>
            <a:off x="548640" y="1691640"/>
            <a:ext cx="1600200" cy="384048"/>
          </a:xfrm>
          <a:prstGeom prst="rect">
            <a:avLst/>
          </a:prstGeom>
          <a:noFill/>
          <a:ln/>
        </p:spPr>
        <p:txBody>
          <a:bodyPr wrap="square" lIns="0" tIns="0" rIns="0" bIns="0" rtlCol="0" anchor="ctr"/>
          <a:lstStyle/>
          <a:p>
            <a:pPr algn="ctr" indent="0" marL="0">
              <a:buNone/>
            </a:pPr>
            <a:r>
              <a:rPr lang="en-US" sz="1300" b="1" spc="100" kern="0" dirty="0">
                <a:solidFill>
                  <a:schemeClr val="accent1"/>
                </a:solidFill>
              </a:rPr>
              <a:t>PASO 4 DE 6</a:t>
            </a:r>
            <a:endParaRPr lang="en-US" sz="1300" dirty="0"/>
          </a:p>
        </p:txBody>
      </p:sp>
      <p:sp>
        <p:nvSpPr>
          <p:cNvPr id="5" name="Text 3"/>
          <p:cNvSpPr txBox="1"/>
          <p:nvPr/>
        </p:nvSpPr>
        <p:spPr>
          <a:xfrm>
            <a:off x="548640" y="2331720"/>
            <a:ext cx="4069080" cy="356616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La ley acepta «cualquier medio idóneo» (Ley 1755 de 2015, art. 15).</a:t>
            </a:r>
            <a:endParaRPr lang="en-US" sz="1700" dirty="0"/>
          </a:p>
          <a:p>
            <a:pPr marL="228600" indent="-228600">
              <a:spcAft>
                <a:spcPts val="1000"/>
              </a:spcAft>
              <a:buSzPct val="100000"/>
              <a:buChar char="•"/>
            </a:pPr>
            <a:r>
              <a:rPr lang="en-US" sz="1700" dirty="0">
                <a:solidFill>
                  <a:schemeClr val="tx1"/>
                </a:solidFill>
              </a:rPr>
              <a:t>MiDerecho lo envía por correo a la alcaldía, la entidad o el juzgado.</a:t>
            </a:r>
            <a:endParaRPr lang="en-US" sz="1700" dirty="0"/>
          </a:p>
          <a:p>
            <a:pPr marL="228600" indent="-228600">
              <a:spcAft>
                <a:spcPts val="1000"/>
              </a:spcAft>
              <a:buSzPct val="100000"/>
              <a:buChar char="•"/>
            </a:pPr>
            <a:r>
              <a:rPr lang="en-US" sz="1700" dirty="0">
                <a:solidFill>
                  <a:schemeClr val="tx1"/>
                </a:solidFill>
              </a:rPr>
              <a:t>Sin señal, espera y sale apenas vuelve la conexión.</a:t>
            </a:r>
            <a:endParaRPr lang="en-US" sz="1700" dirty="0"/>
          </a:p>
          <a:p>
            <a:pPr marL="228600" indent="-228600">
              <a:spcAft>
                <a:spcPts val="1000"/>
              </a:spcAft>
              <a:buSzPct val="100000"/>
              <a:buChar char="•"/>
            </a:pPr>
            <a:r>
              <a:rPr lang="en-US" sz="1700" dirty="0">
                <a:solidFill>
                  <a:schemeClr val="tx1"/>
                </a:solidFill>
              </a:rPr>
              <a:t>La constancia queda en Mis casos.</a:t>
            </a:r>
            <a:endParaRPr lang="en-US" sz="1700" dirty="0"/>
          </a:p>
        </p:txBody>
      </p:sp>
      <p:pic>
        <p:nvPicPr>
          <p:cNvPr id="26" name="Video 5-envi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892040" y="1600200"/>
            <a:ext cx="6748272" cy="3795903"/>
          </a:xfrm>
          <a:prstGeom prst="rect">
            <a:avLst/>
          </a:prstGeom>
        </p:spPr>
      </p:pic>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5F"/>
                </a:solidFill>
              </a:defRPr>
            </a:lvl1pPr>
          </a:lstStyle>
          <a:p>
            <a:pPr algn="r"/>
            <a:fld id="{F7021451-1387-4CA6-816F-3879F97B5CBC}" type="slidenum">
              <a:rPr b="0" lang="en-US"/>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6"/>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97280"/>
          </a:xfrm>
          <a:prstGeom prst="rect">
            <a:avLst/>
          </a:prstGeom>
          <a:noFill/>
          <a:ln/>
        </p:spPr>
        <p:txBody>
          <a:bodyPr wrap="square" lIns="0" tIns="0" rIns="0" bIns="0" rtlCol="0" anchor="ctr"/>
          <a:lstStyle/>
          <a:p>
            <a:pPr algn="ctr" indent="0" marL="0">
              <a:buNone/>
            </a:pPr>
            <a:r>
              <a:rPr lang="en-US" sz="3000" b="1" dirty="0">
                <a:solidFill>
                  <a:schemeClr val="tx1"/>
                </a:solidFill>
              </a:rPr>
              <a:t>NO SE LE PASA EL PLAZO</a:t>
            </a:r>
            <a:endParaRPr lang="en-US" sz="3000" dirty="0"/>
          </a:p>
        </p:txBody>
      </p:sp>
      <p:sp>
        <p:nvSpPr>
          <p:cNvPr id="3" name="Shape 1"/>
          <p:cNvSpPr/>
          <p:nvPr/>
        </p:nvSpPr>
        <p:spPr>
          <a:xfrm>
            <a:off x="548640" y="1691640"/>
            <a:ext cx="1600200" cy="384048"/>
          </a:xfrm>
          <a:prstGeom prst="roundRect">
            <a:avLst>
              <a:gd name="adj" fmla="val 50000"/>
            </a:avLst>
          </a:prstGeom>
          <a:solidFill>
            <a:schemeClr val="accent3"/>
          </a:solidFill>
          <a:ln/>
        </p:spPr>
      </p:sp>
      <p:sp>
        <p:nvSpPr>
          <p:cNvPr id="4" name="Text 2"/>
          <p:cNvSpPr txBox="1"/>
          <p:nvPr/>
        </p:nvSpPr>
        <p:spPr>
          <a:xfrm>
            <a:off x="548640" y="1691640"/>
            <a:ext cx="1600200" cy="384048"/>
          </a:xfrm>
          <a:prstGeom prst="rect">
            <a:avLst/>
          </a:prstGeom>
          <a:noFill/>
          <a:ln/>
        </p:spPr>
        <p:txBody>
          <a:bodyPr wrap="square" lIns="0" tIns="0" rIns="0" bIns="0" rtlCol="0" anchor="ctr"/>
          <a:lstStyle/>
          <a:p>
            <a:pPr algn="ctr" indent="0" marL="0">
              <a:buNone/>
            </a:pPr>
            <a:r>
              <a:rPr lang="en-US" sz="1300" b="1" spc="100" kern="0" dirty="0">
                <a:solidFill>
                  <a:schemeClr val="accent1"/>
                </a:solidFill>
              </a:rPr>
              <a:t>PASO 5 DE 6</a:t>
            </a:r>
            <a:endParaRPr lang="en-US" sz="1300" dirty="0"/>
          </a:p>
        </p:txBody>
      </p:sp>
      <p:sp>
        <p:nvSpPr>
          <p:cNvPr id="5" name="Text 3"/>
          <p:cNvSpPr txBox="1"/>
          <p:nvPr/>
        </p:nvSpPr>
        <p:spPr>
          <a:xfrm>
            <a:off x="548640" y="2331720"/>
            <a:ext cx="4069080" cy="356616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Cuenta días hábiles con festivos: 15 para responder (10 si pide documentos, 30 si es una consulta).</a:t>
            </a:r>
            <a:endParaRPr lang="en-US" sz="1700" dirty="0"/>
          </a:p>
          <a:p>
            <a:pPr marL="228600" indent="-228600">
              <a:spcAft>
                <a:spcPts val="1000"/>
              </a:spcAft>
              <a:buSzPct val="100000"/>
              <a:buChar char="•"/>
            </a:pPr>
            <a:r>
              <a:rPr lang="en-US" sz="1700" dirty="0">
                <a:solidFill>
                  <a:schemeClr val="tx1"/>
                </a:solidFill>
              </a:rPr>
              <a:t>Avisa por SMS, WhatsApp, llamada o notificación.</a:t>
            </a:r>
            <a:endParaRPr lang="en-US" sz="1700" dirty="0"/>
          </a:p>
          <a:p>
            <a:pPr marL="228600" indent="-228600">
              <a:spcAft>
                <a:spcPts val="1000"/>
              </a:spcAft>
              <a:buSzPct val="100000"/>
              <a:buChar char="•"/>
            </a:pPr>
            <a:r>
              <a:rPr lang="en-US" sz="1700" dirty="0">
                <a:solidFill>
                  <a:schemeClr val="tx1"/>
                </a:solidFill>
              </a:rPr>
              <a:t>Los avisos solo llevan un código y la fecha, sin datos personales.</a:t>
            </a:r>
            <a:endParaRPr lang="en-US" sz="1700" dirty="0"/>
          </a:p>
        </p:txBody>
      </p:sp>
      <p:pic>
        <p:nvPicPr>
          <p:cNvPr id="26" name="Video 6-plaz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892040" y="1600200"/>
            <a:ext cx="6748272" cy="3795903"/>
          </a:xfrm>
          <a:prstGeom prst="rect">
            <a:avLst/>
          </a:prstGeom>
        </p:spPr>
      </p:pic>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5F"/>
                </a:solidFill>
              </a:defRPr>
            </a:lvl1pPr>
          </a:lstStyle>
          <a:p>
            <a:pPr algn="r"/>
            <a:fld id="{F7021451-1387-4CA6-816F-3879F97B5CBC}" type="slidenum">
              <a:rPr b="0" lang="en-US"/>
              <a:t>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6"/>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97280"/>
          </a:xfrm>
          <a:prstGeom prst="rect">
            <a:avLst/>
          </a:prstGeom>
          <a:noFill/>
          <a:ln/>
        </p:spPr>
        <p:txBody>
          <a:bodyPr wrap="square" lIns="0" tIns="0" rIns="0" bIns="0" rtlCol="0" anchor="ctr"/>
          <a:lstStyle/>
          <a:p>
            <a:pPr algn="ctr" indent="0" marL="0">
              <a:buNone/>
            </a:pPr>
            <a:r>
              <a:rPr lang="en-US" sz="3000" b="1" dirty="0">
                <a:solidFill>
                  <a:schemeClr val="tx1"/>
                </a:solidFill>
              </a:rPr>
              <a:t>SI NO RESPONDEN, LA TUTELA</a:t>
            </a:r>
            <a:endParaRPr lang="en-US" sz="3000" dirty="0"/>
          </a:p>
        </p:txBody>
      </p:sp>
      <p:sp>
        <p:nvSpPr>
          <p:cNvPr id="3" name="Shape 1"/>
          <p:cNvSpPr/>
          <p:nvPr/>
        </p:nvSpPr>
        <p:spPr>
          <a:xfrm>
            <a:off x="548640" y="1691640"/>
            <a:ext cx="1600200" cy="384048"/>
          </a:xfrm>
          <a:prstGeom prst="roundRect">
            <a:avLst>
              <a:gd name="adj" fmla="val 50000"/>
            </a:avLst>
          </a:prstGeom>
          <a:solidFill>
            <a:schemeClr val="accent3"/>
          </a:solidFill>
          <a:ln/>
        </p:spPr>
      </p:sp>
      <p:sp>
        <p:nvSpPr>
          <p:cNvPr id="4" name="Text 2"/>
          <p:cNvSpPr txBox="1"/>
          <p:nvPr/>
        </p:nvSpPr>
        <p:spPr>
          <a:xfrm>
            <a:off x="548640" y="1691640"/>
            <a:ext cx="1600200" cy="384048"/>
          </a:xfrm>
          <a:prstGeom prst="rect">
            <a:avLst/>
          </a:prstGeom>
          <a:noFill/>
          <a:ln/>
        </p:spPr>
        <p:txBody>
          <a:bodyPr wrap="square" lIns="0" tIns="0" rIns="0" bIns="0" rtlCol="0" anchor="ctr"/>
          <a:lstStyle/>
          <a:p>
            <a:pPr algn="ctr" indent="0" marL="0">
              <a:buNone/>
            </a:pPr>
            <a:r>
              <a:rPr lang="en-US" sz="1300" b="1" spc="100" kern="0" dirty="0">
                <a:solidFill>
                  <a:schemeClr val="accent1"/>
                </a:solidFill>
              </a:rPr>
              <a:t>PASO 6 DE 6</a:t>
            </a:r>
            <a:endParaRPr lang="en-US" sz="1300" dirty="0"/>
          </a:p>
        </p:txBody>
      </p:sp>
      <p:sp>
        <p:nvSpPr>
          <p:cNvPr id="5" name="Text 3"/>
          <p:cNvSpPr txBox="1"/>
          <p:nvPr/>
        </p:nvSpPr>
        <p:spPr>
          <a:xfrm>
            <a:off x="548640" y="2331720"/>
            <a:ext cx="4069080" cy="356616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Día 16 sin respuesta: la app prepara la tutela con lo que ya tiene.</a:t>
            </a:r>
            <a:endParaRPr lang="en-US" sz="1700" dirty="0"/>
          </a:p>
          <a:p>
            <a:pPr marL="228600" indent="-228600">
              <a:spcAft>
                <a:spcPts val="1000"/>
              </a:spcAft>
              <a:buSzPct val="100000"/>
              <a:buChar char="•"/>
            </a:pPr>
            <a:r>
              <a:rPr lang="en-US" sz="1700" dirty="0">
                <a:solidFill>
                  <a:schemeClr val="tx1"/>
                </a:solidFill>
              </a:rPr>
              <a:t>No necesita abogado y el juez decide en 10 días.</a:t>
            </a:r>
            <a:endParaRPr lang="en-US" sz="1700" dirty="0"/>
          </a:p>
          <a:p>
            <a:pPr marL="228600" indent="-228600">
              <a:spcAft>
                <a:spcPts val="1000"/>
              </a:spcAft>
              <a:buSzPct val="100000"/>
              <a:buChar char="•"/>
            </a:pPr>
            <a:r>
              <a:rPr lang="en-US" sz="1700" dirty="0">
                <a:solidFill>
                  <a:schemeClr val="tx1"/>
                </a:solidFill>
              </a:rPr>
              <a:t>Si el juez falla en contra, le muestra el plazo para impugnar.</a:t>
            </a:r>
            <a:endParaRPr lang="en-US" sz="1700" dirty="0"/>
          </a:p>
        </p:txBody>
      </p:sp>
      <p:pic>
        <p:nvPicPr>
          <p:cNvPr id="26" name="Video 7-tutela">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892040" y="1600200"/>
            <a:ext cx="6748272" cy="3795903"/>
          </a:xfrm>
          <a:prstGeom prst="rect">
            <a:avLst/>
          </a:prstGeom>
        </p:spPr>
      </p:pic>
      <p:sp>
        <p:nvSpPr>
          <p:cNvPr id="7" name="Text 4"/>
          <p:cNvSpPr txBox="1"/>
          <p:nvPr/>
        </p:nvSpPr>
        <p:spPr>
          <a:xfrm>
            <a:off x="548640" y="6263640"/>
            <a:ext cx="10424160" cy="320040"/>
          </a:xfrm>
          <a:prstGeom prst="rect">
            <a:avLst/>
          </a:prstGeom>
          <a:noFill/>
          <a:ln/>
        </p:spPr>
        <p:txBody>
          <a:bodyPr wrap="square" lIns="0" tIns="0" rIns="0" bIns="0" rtlCol="0" anchor="ctr"/>
          <a:lstStyle/>
          <a:p>
            <a:pPr indent="0" marL="0">
              <a:buNone/>
            </a:pPr>
            <a:r>
              <a:rPr lang="en-US" sz="1100" dirty="0">
                <a:solidFill>
                  <a:srgbClr val="6B675F"/>
                </a:solidFill>
              </a:rPr>
              <a:t>73% = 177.531 tutelas concedidas + 138.738 «hecho superado», de 432.658 tutelas por derecho de petición (Rama Judicial, 2025).</a:t>
            </a:r>
            <a:endParaRPr lang="en-US" sz="110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5F"/>
                </a:solidFill>
              </a:defRPr>
            </a:lvl1pPr>
          </a:lstStyle>
          <a:p>
            <a:pPr algn="r"/>
            <a:fld id="{F7021451-1387-4CA6-816F-3879F97B5CBC}" type="slidenum">
              <a:rPr b="0" lang="en-US"/>
              <a:t>14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6"/>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97280"/>
          </a:xfrm>
          <a:prstGeom prst="rect">
            <a:avLst/>
          </a:prstGeom>
          <a:noFill/>
          <a:ln/>
        </p:spPr>
        <p:txBody>
          <a:bodyPr wrap="square" lIns="0" tIns="0" rIns="0" bIns="0" rtlCol="0" anchor="ctr"/>
          <a:lstStyle/>
          <a:p>
            <a:pPr algn="ctr" indent="0" marL="0">
              <a:buNone/>
            </a:pPr>
            <a:r>
              <a:rPr lang="en-US" sz="3000" b="1" dirty="0">
                <a:solidFill>
                  <a:schemeClr val="tx1"/>
                </a:solidFill>
              </a:rPr>
              <a:t>LA ORIENTACIÓN NO DEBERÍA DEPENDER SIEMPRE DE INTERNET</a:t>
            </a:r>
            <a:endParaRPr lang="en-US" sz="3000" dirty="0"/>
          </a:p>
        </p:txBody>
      </p:sp>
      <p:sp>
        <p:nvSpPr>
          <p:cNvPr id="3" name="Shape 1"/>
          <p:cNvSpPr/>
          <p:nvPr/>
        </p:nvSpPr>
        <p:spPr>
          <a:xfrm>
            <a:off x="548640" y="1691640"/>
            <a:ext cx="5394960" cy="3383280"/>
          </a:xfrm>
          <a:prstGeom prst="roundRect">
            <a:avLst>
              <a:gd name="adj" fmla="val 4865"/>
            </a:avLst>
          </a:prstGeom>
          <a:solidFill>
            <a:schemeClr val="accent4"/>
          </a:solidFill>
          <a:ln/>
        </p:spPr>
      </p:sp>
      <p:sp>
        <p:nvSpPr>
          <p:cNvPr id="4" name="Text 2"/>
          <p:cNvSpPr txBox="1"/>
          <p:nvPr/>
        </p:nvSpPr>
        <p:spPr>
          <a:xfrm>
            <a:off x="868680" y="1920240"/>
            <a:ext cx="4754880" cy="457200"/>
          </a:xfrm>
          <a:prstGeom prst="rect">
            <a:avLst/>
          </a:prstGeom>
          <a:noFill/>
          <a:ln/>
        </p:spPr>
        <p:txBody>
          <a:bodyPr wrap="square" lIns="0" tIns="0" rIns="0" bIns="0" rtlCol="0" anchor="t"/>
          <a:lstStyle/>
          <a:p>
            <a:pPr indent="0" marL="0">
              <a:buNone/>
            </a:pPr>
            <a:r>
              <a:rPr lang="en-US" sz="2400" b="1" dirty="0">
                <a:solidFill>
                  <a:schemeClr val="tx1"/>
                </a:solidFill>
              </a:rPr>
              <a:t>Sin conexión</a:t>
            </a:r>
            <a:endParaRPr lang="en-US" sz="2400" dirty="0"/>
          </a:p>
        </p:txBody>
      </p:sp>
      <p:sp>
        <p:nvSpPr>
          <p:cNvPr id="5" name="Text 3"/>
          <p:cNvSpPr txBox="1"/>
          <p:nvPr/>
        </p:nvSpPr>
        <p:spPr>
          <a:xfrm>
            <a:off x="868680" y="2514600"/>
            <a:ext cx="4754880" cy="237744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chemeClr val="tx1"/>
                </a:solidFill>
              </a:rPr>
              <a:t>Consultar los derechos guardados.</a:t>
            </a:r>
            <a:endParaRPr lang="en-US" sz="1800" dirty="0"/>
          </a:p>
          <a:p>
            <a:pPr marL="228600" indent="-228600">
              <a:spcAft>
                <a:spcPts val="1000"/>
              </a:spcAft>
              <a:buSzPct val="100000"/>
              <a:buChar char="•"/>
            </a:pPr>
            <a:r>
              <a:rPr lang="en-US" sz="1800" dirty="0">
                <a:solidFill>
                  <a:schemeClr val="tx1"/>
                </a:solidFill>
              </a:rPr>
              <a:t>Leer y escuchar las historietas.</a:t>
            </a:r>
            <a:endParaRPr lang="en-US" sz="1800" dirty="0"/>
          </a:p>
          <a:p>
            <a:pPr marL="228600" indent="-228600">
              <a:spcAft>
                <a:spcPts val="1000"/>
              </a:spcAft>
              <a:buSzPct val="100000"/>
              <a:buChar char="•"/>
            </a:pPr>
            <a:r>
              <a:rPr lang="en-US" sz="1800" dirty="0">
                <a:solidFill>
                  <a:schemeClr val="tx1"/>
                </a:solidFill>
              </a:rPr>
              <a:t>Crear el documento con las plantillas.</a:t>
            </a:r>
            <a:endParaRPr lang="en-US" sz="1800" dirty="0"/>
          </a:p>
          <a:p>
            <a:pPr marL="228600" indent="-228600">
              <a:spcAft>
                <a:spcPts val="1000"/>
              </a:spcAft>
              <a:buSzPct val="100000"/>
              <a:buChar char="•"/>
            </a:pPr>
            <a:r>
              <a:rPr lang="en-US" sz="1800" dirty="0">
                <a:solidFill>
                  <a:schemeClr val="tx1"/>
                </a:solidFill>
              </a:rPr>
              <a:t>Ver Mis casos y sus plazos.</a:t>
            </a:r>
            <a:endParaRPr lang="en-US" sz="1800" dirty="0"/>
          </a:p>
        </p:txBody>
      </p:sp>
      <p:sp>
        <p:nvSpPr>
          <p:cNvPr id="6" name="Shape 4"/>
          <p:cNvSpPr/>
          <p:nvPr/>
        </p:nvSpPr>
        <p:spPr>
          <a:xfrm>
            <a:off x="6245352" y="1691640"/>
            <a:ext cx="5394960" cy="3383280"/>
          </a:xfrm>
          <a:prstGeom prst="roundRect">
            <a:avLst>
              <a:gd name="adj" fmla="val 4865"/>
            </a:avLst>
          </a:prstGeom>
          <a:solidFill>
            <a:schemeClr val="accent1"/>
          </a:solidFill>
          <a:ln/>
        </p:spPr>
      </p:sp>
      <p:sp>
        <p:nvSpPr>
          <p:cNvPr id="7" name="Text 5"/>
          <p:cNvSpPr txBox="1"/>
          <p:nvPr/>
        </p:nvSpPr>
        <p:spPr>
          <a:xfrm>
            <a:off x="6565392" y="1920240"/>
            <a:ext cx="4754880" cy="457200"/>
          </a:xfrm>
          <a:prstGeom prst="rect">
            <a:avLst/>
          </a:prstGeom>
          <a:noFill/>
          <a:ln/>
        </p:spPr>
        <p:txBody>
          <a:bodyPr wrap="square" lIns="0" tIns="0" rIns="0" bIns="0" rtlCol="0" anchor="t"/>
          <a:lstStyle/>
          <a:p>
            <a:pPr indent="0" marL="0">
              <a:buNone/>
            </a:pPr>
            <a:r>
              <a:rPr lang="en-US" sz="2400" b="1" dirty="0">
                <a:solidFill>
                  <a:schemeClr val="bg2"/>
                </a:solidFill>
              </a:rPr>
              <a:t>Con conexión</a:t>
            </a:r>
            <a:endParaRPr lang="en-US" sz="2400" dirty="0"/>
          </a:p>
        </p:txBody>
      </p:sp>
      <p:sp>
        <p:nvSpPr>
          <p:cNvPr id="8" name="Text 6"/>
          <p:cNvSpPr txBox="1"/>
          <p:nvPr/>
        </p:nvSpPr>
        <p:spPr>
          <a:xfrm>
            <a:off x="6565392" y="2514600"/>
            <a:ext cx="4754880" cy="237744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chemeClr val="bg2"/>
                </a:solidFill>
              </a:rPr>
              <a:t>Hablar con el asistente (IA y voz).</a:t>
            </a:r>
            <a:endParaRPr lang="en-US" sz="1800" dirty="0"/>
          </a:p>
          <a:p>
            <a:pPr marL="228600" indent="-228600">
              <a:spcAft>
                <a:spcPts val="1000"/>
              </a:spcAft>
              <a:buSzPct val="100000"/>
              <a:buChar char="•"/>
            </a:pPr>
            <a:r>
              <a:rPr lang="en-US" sz="1800" dirty="0">
                <a:solidFill>
                  <a:schemeClr val="bg2"/>
                </a:solidFill>
              </a:rPr>
              <a:t>Enviar el documento por correo.</a:t>
            </a:r>
            <a:endParaRPr lang="en-US" sz="1800" dirty="0"/>
          </a:p>
          <a:p>
            <a:pPr marL="228600" indent="-228600">
              <a:spcAft>
                <a:spcPts val="1000"/>
              </a:spcAft>
              <a:buSzPct val="100000"/>
              <a:buChar char="•"/>
            </a:pPr>
            <a:r>
              <a:rPr lang="en-US" sz="1800" dirty="0">
                <a:solidFill>
                  <a:schemeClr val="bg2"/>
                </a:solidFill>
              </a:rPr>
              <a:t>Recibir avisos por SMS, WhatsApp o llamada.</a:t>
            </a:r>
            <a:endParaRPr lang="en-US" sz="1800" dirty="0"/>
          </a:p>
          <a:p>
            <a:pPr marL="228600" indent="-228600">
              <a:spcAft>
                <a:spcPts val="1000"/>
              </a:spcAft>
              <a:buSzPct val="100000"/>
              <a:buChar char="•"/>
            </a:pPr>
            <a:r>
              <a:rPr lang="en-US" sz="1800" dirty="0">
                <a:solidFill>
                  <a:schemeClr val="bg2"/>
                </a:solidFill>
              </a:rPr>
              <a:t>Si la IA falla, sigue en modo básico.</a:t>
            </a:r>
            <a:endParaRPr lang="en-US" sz="1800" dirty="0"/>
          </a:p>
        </p:txBody>
      </p:sp>
      <p:pic>
        <p:nvPicPr>
          <p:cNvPr id="9" name="Image 0" descr="Búho de MiDerecho (computador)">    </p:cNvPr>
          <p:cNvPicPr>
            <a:picLocks noChangeAspect="1"/>
          </p:cNvPicPr>
          <p:nvPr/>
        </p:nvPicPr>
        <p:blipFill>
          <a:blip r:embed="rId1"/>
          <a:stretch>
            <a:fillRect/>
          </a:stretch>
        </p:blipFill>
        <p:spPr>
          <a:xfrm>
            <a:off x="548640" y="5257800"/>
            <a:ext cx="1110607" cy="1097280"/>
          </a:xfrm>
          <a:prstGeom prst="rect">
            <a:avLst/>
          </a:prstGeom>
        </p:spPr>
      </p:pic>
      <p:sp>
        <p:nvSpPr>
          <p:cNvPr id="10" name="Text 7"/>
          <p:cNvSpPr txBox="1"/>
          <p:nvPr/>
        </p:nvSpPr>
        <p:spPr>
          <a:xfrm>
            <a:off x="1783080" y="5349240"/>
            <a:ext cx="9784080" cy="822960"/>
          </a:xfrm>
          <a:prstGeom prst="rect">
            <a:avLst/>
          </a:prstGeom>
          <a:noFill/>
          <a:ln/>
        </p:spPr>
        <p:txBody>
          <a:bodyPr wrap="square" lIns="0" tIns="0" rIns="0" bIns="0" rtlCol="0" anchor="ctr"/>
          <a:lstStyle/>
          <a:p>
            <a:pPr indent="0" marL="0">
              <a:buNone/>
            </a:pPr>
            <a:r>
              <a:rPr lang="en-US" sz="1700" dirty="0">
                <a:solidFill>
                  <a:schemeClr val="tx1"/>
                </a:solidFill>
              </a:rPr>
              <a:t>Es una app web (PWA): se abre con un enlace, se instala sin tienda de aplicaciones y queda guardada en el celular.</a:t>
            </a:r>
            <a:endParaRPr lang="en-US" sz="170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5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97280"/>
          </a:xfrm>
          <a:prstGeom prst="rect">
            <a:avLst/>
          </a:prstGeom>
          <a:noFill/>
          <a:ln/>
        </p:spPr>
        <p:txBody>
          <a:bodyPr wrap="square" lIns="0" tIns="0" rIns="0" bIns="0" rtlCol="0" anchor="ctr"/>
          <a:lstStyle/>
          <a:p>
            <a:pPr algn="ctr" indent="0" marL="0">
              <a:buNone/>
            </a:pPr>
            <a:r>
              <a:rPr lang="en-US" sz="3000" b="1" dirty="0">
                <a:solidFill>
                  <a:schemeClr val="tx1"/>
                </a:solidFill>
              </a:rPr>
              <a:t>CUIDAMOS A QUIEN LA USA</a:t>
            </a:r>
            <a:endParaRPr lang="en-US" sz="3000" dirty="0"/>
          </a:p>
        </p:txBody>
      </p:sp>
      <p:pic>
        <p:nvPicPr>
          <p:cNvPr id="3" name="Image 0" descr="Búho de MiDerecho (ley)">    </p:cNvPr>
          <p:cNvPicPr>
            <a:picLocks noChangeAspect="1"/>
          </p:cNvPicPr>
          <p:nvPr/>
        </p:nvPicPr>
        <p:blipFill>
          <a:blip r:embed="rId1"/>
          <a:stretch>
            <a:fillRect/>
          </a:stretch>
        </p:blipFill>
        <p:spPr>
          <a:xfrm>
            <a:off x="640080" y="2057400"/>
            <a:ext cx="2893851" cy="3566160"/>
          </a:xfrm>
          <a:prstGeom prst="rect">
            <a:avLst/>
          </a:prstGeom>
        </p:spPr>
      </p:pic>
      <p:sp>
        <p:nvSpPr>
          <p:cNvPr id="4" name="Shape 1"/>
          <p:cNvSpPr/>
          <p:nvPr/>
        </p:nvSpPr>
        <p:spPr>
          <a:xfrm>
            <a:off x="4023360" y="1691640"/>
            <a:ext cx="3739896" cy="2011680"/>
          </a:xfrm>
          <a:prstGeom prst="roundRect">
            <a:avLst>
              <a:gd name="adj" fmla="val 8182"/>
            </a:avLst>
          </a:prstGeom>
          <a:solidFill>
            <a:schemeClr val="bg1"/>
          </a:solidFill>
          <a:ln/>
          <a:effectLst>
            <a:outerShdw sx="100000" sy="100000" kx="0" ky="0" algn="bl" rotWithShape="0" blurRad="101600" dist="25400" dir="5400000">
              <a:srgbClr val="264933">
                <a:alpha val="14000"/>
              </a:srgbClr>
            </a:outerShdw>
          </a:effectLst>
        </p:spPr>
      </p:sp>
      <p:sp>
        <p:nvSpPr>
          <p:cNvPr id="5" name="Text 2"/>
          <p:cNvSpPr txBox="1"/>
          <p:nvPr/>
        </p:nvSpPr>
        <p:spPr>
          <a:xfrm>
            <a:off x="4297680" y="1920240"/>
            <a:ext cx="3200400" cy="411480"/>
          </a:xfrm>
          <a:prstGeom prst="rect">
            <a:avLst/>
          </a:prstGeom>
          <a:noFill/>
          <a:ln/>
        </p:spPr>
        <p:txBody>
          <a:bodyPr wrap="square" lIns="0" tIns="0" rIns="0" bIns="0" rtlCol="0" anchor="t"/>
          <a:lstStyle/>
          <a:p>
            <a:pPr indent="0" marL="0">
              <a:buNone/>
            </a:pPr>
            <a:r>
              <a:rPr lang="en-US" sz="1900" b="1" dirty="0">
                <a:solidFill>
                  <a:schemeClr val="accent1"/>
                </a:solidFill>
              </a:rPr>
              <a:t>No reemplaza al abogado</a:t>
            </a:r>
            <a:endParaRPr lang="en-US" sz="1900" dirty="0"/>
          </a:p>
        </p:txBody>
      </p:sp>
      <p:sp>
        <p:nvSpPr>
          <p:cNvPr id="6" name="Text 3"/>
          <p:cNvSpPr txBox="1"/>
          <p:nvPr/>
        </p:nvSpPr>
        <p:spPr>
          <a:xfrm>
            <a:off x="4297680" y="2404872"/>
            <a:ext cx="3200400" cy="1188720"/>
          </a:xfrm>
          <a:prstGeom prst="rect">
            <a:avLst/>
          </a:prstGeom>
          <a:noFill/>
          <a:ln/>
        </p:spPr>
        <p:txBody>
          <a:bodyPr wrap="square" lIns="0" tIns="0" rIns="0" bIns="0" rtlCol="0" anchor="t"/>
          <a:lstStyle/>
          <a:p>
            <a:pPr indent="0" marL="0">
              <a:buNone/>
            </a:pPr>
            <a:r>
              <a:rPr lang="en-US" sz="1500" dirty="0">
                <a:solidFill>
                  <a:schemeClr val="tx1"/>
                </a:solidFill>
              </a:rPr>
              <a:t>La IA conversa y clasifica. Leyes, plazos y documentos salen de contenido fijo que valida un consultorio jurídico.</a:t>
            </a:r>
            <a:endParaRPr lang="en-US" sz="1500" dirty="0"/>
          </a:p>
        </p:txBody>
      </p:sp>
      <p:sp>
        <p:nvSpPr>
          <p:cNvPr id="7" name="Shape 4"/>
          <p:cNvSpPr/>
          <p:nvPr/>
        </p:nvSpPr>
        <p:spPr>
          <a:xfrm>
            <a:off x="7900416" y="1691640"/>
            <a:ext cx="3739896" cy="2011680"/>
          </a:xfrm>
          <a:prstGeom prst="roundRect">
            <a:avLst>
              <a:gd name="adj" fmla="val 8182"/>
            </a:avLst>
          </a:prstGeom>
          <a:solidFill>
            <a:schemeClr val="bg1"/>
          </a:solidFill>
          <a:ln/>
          <a:effectLst>
            <a:outerShdw sx="100000" sy="100000" kx="0" ky="0" algn="bl" rotWithShape="0" blurRad="101600" dist="25400" dir="5400000">
              <a:srgbClr val="264933">
                <a:alpha val="14000"/>
              </a:srgbClr>
            </a:outerShdw>
          </a:effectLst>
        </p:spPr>
      </p:sp>
      <p:sp>
        <p:nvSpPr>
          <p:cNvPr id="8" name="Text 5"/>
          <p:cNvSpPr txBox="1"/>
          <p:nvPr/>
        </p:nvSpPr>
        <p:spPr>
          <a:xfrm>
            <a:off x="8174736" y="1920240"/>
            <a:ext cx="3200400" cy="411480"/>
          </a:xfrm>
          <a:prstGeom prst="rect">
            <a:avLst/>
          </a:prstGeom>
          <a:noFill/>
          <a:ln/>
        </p:spPr>
        <p:txBody>
          <a:bodyPr wrap="square" lIns="0" tIns="0" rIns="0" bIns="0" rtlCol="0" anchor="t"/>
          <a:lstStyle/>
          <a:p>
            <a:pPr indent="0" marL="0">
              <a:buNone/>
            </a:pPr>
            <a:r>
              <a:rPr lang="en-US" sz="1900" b="1" dirty="0">
                <a:solidFill>
                  <a:schemeClr val="accent1"/>
                </a:solidFill>
              </a:rPr>
              <a:t>Sus datos no viajan</a:t>
            </a:r>
            <a:endParaRPr lang="en-US" sz="1900" dirty="0"/>
          </a:p>
        </p:txBody>
      </p:sp>
      <p:sp>
        <p:nvSpPr>
          <p:cNvPr id="9" name="Text 6"/>
          <p:cNvSpPr txBox="1"/>
          <p:nvPr/>
        </p:nvSpPr>
        <p:spPr>
          <a:xfrm>
            <a:off x="8174736" y="2404872"/>
            <a:ext cx="3200400" cy="1188720"/>
          </a:xfrm>
          <a:prstGeom prst="rect">
            <a:avLst/>
          </a:prstGeom>
          <a:noFill/>
          <a:ln/>
        </p:spPr>
        <p:txBody>
          <a:bodyPr wrap="square" lIns="0" tIns="0" rIns="0" bIns="0" rtlCol="0" anchor="t"/>
          <a:lstStyle/>
          <a:p>
            <a:pPr indent="0" marL="0">
              <a:buNone/>
            </a:pPr>
            <a:r>
              <a:rPr lang="en-US" sz="1500" dirty="0">
                <a:solidFill>
                  <a:schemeClr val="tx1"/>
                </a:solidFill>
              </a:rPr>
              <a:t>Cédula, teléfono y correo se quitan antes de llegar a la IA. El servidor no guarda conversaciones.</a:t>
            </a:r>
            <a:endParaRPr lang="en-US" sz="1500" dirty="0"/>
          </a:p>
        </p:txBody>
      </p:sp>
      <p:sp>
        <p:nvSpPr>
          <p:cNvPr id="10" name="Shape 7"/>
          <p:cNvSpPr/>
          <p:nvPr/>
        </p:nvSpPr>
        <p:spPr>
          <a:xfrm>
            <a:off x="4023360" y="3931920"/>
            <a:ext cx="3739896" cy="2011680"/>
          </a:xfrm>
          <a:prstGeom prst="roundRect">
            <a:avLst>
              <a:gd name="adj" fmla="val 8182"/>
            </a:avLst>
          </a:prstGeom>
          <a:solidFill>
            <a:schemeClr val="bg1"/>
          </a:solidFill>
          <a:ln/>
          <a:effectLst>
            <a:outerShdw sx="100000" sy="100000" kx="0" ky="0" algn="bl" rotWithShape="0" blurRad="101600" dist="25400" dir="5400000">
              <a:srgbClr val="264933">
                <a:alpha val="14000"/>
              </a:srgbClr>
            </a:outerShdw>
          </a:effectLst>
        </p:spPr>
      </p:sp>
      <p:sp>
        <p:nvSpPr>
          <p:cNvPr id="11" name="Text 8"/>
          <p:cNvSpPr txBox="1"/>
          <p:nvPr/>
        </p:nvSpPr>
        <p:spPr>
          <a:xfrm>
            <a:off x="4297680" y="4160520"/>
            <a:ext cx="3200400" cy="411480"/>
          </a:xfrm>
          <a:prstGeom prst="rect">
            <a:avLst/>
          </a:prstGeom>
          <a:noFill/>
          <a:ln/>
        </p:spPr>
        <p:txBody>
          <a:bodyPr wrap="square" lIns="0" tIns="0" rIns="0" bIns="0" rtlCol="0" anchor="t"/>
          <a:lstStyle/>
          <a:p>
            <a:pPr indent="0" marL="0">
              <a:buNone/>
            </a:pPr>
            <a:r>
              <a:rPr lang="en-US" sz="1900" b="1" dirty="0">
                <a:solidFill>
                  <a:schemeClr val="accent1"/>
                </a:solidFill>
              </a:rPr>
              <a:t>Celular compartido</a:t>
            </a:r>
            <a:endParaRPr lang="en-US" sz="1900" dirty="0"/>
          </a:p>
        </p:txBody>
      </p:sp>
      <p:sp>
        <p:nvSpPr>
          <p:cNvPr id="12" name="Text 9"/>
          <p:cNvSpPr txBox="1"/>
          <p:nvPr/>
        </p:nvSpPr>
        <p:spPr>
          <a:xfrm>
            <a:off x="4297680" y="4645152"/>
            <a:ext cx="3200400" cy="1188720"/>
          </a:xfrm>
          <a:prstGeom prst="rect">
            <a:avLst/>
          </a:prstGeom>
          <a:noFill/>
          <a:ln/>
        </p:spPr>
        <p:txBody>
          <a:bodyPr wrap="square" lIns="0" tIns="0" rIns="0" bIns="0" rtlCol="0" anchor="t"/>
          <a:lstStyle/>
          <a:p>
            <a:pPr indent="0" marL="0">
              <a:buNone/>
            </a:pPr>
            <a:r>
              <a:rPr lang="en-US" sz="1500" dirty="0">
                <a:solidFill>
                  <a:schemeClr val="tx1"/>
                </a:solidFill>
              </a:rPr>
              <a:t>Los casos quedan cifrados con una clave de 4 números, y «Borrar todo» está en Perfil.</a:t>
            </a:r>
            <a:endParaRPr lang="en-US" sz="1500" dirty="0"/>
          </a:p>
        </p:txBody>
      </p:sp>
      <p:sp>
        <p:nvSpPr>
          <p:cNvPr id="13" name="Shape 10"/>
          <p:cNvSpPr/>
          <p:nvPr/>
        </p:nvSpPr>
        <p:spPr>
          <a:xfrm>
            <a:off x="7900416" y="3931920"/>
            <a:ext cx="3739896" cy="2011680"/>
          </a:xfrm>
          <a:prstGeom prst="roundRect">
            <a:avLst>
              <a:gd name="adj" fmla="val 8182"/>
            </a:avLst>
          </a:prstGeom>
          <a:solidFill>
            <a:schemeClr val="bg1"/>
          </a:solidFill>
          <a:ln/>
          <a:effectLst>
            <a:outerShdw sx="100000" sy="100000" kx="0" ky="0" algn="bl" rotWithShape="0" blurRad="101600" dist="25400" dir="5400000">
              <a:srgbClr val="264933">
                <a:alpha val="14000"/>
              </a:srgbClr>
            </a:outerShdw>
          </a:effectLst>
        </p:spPr>
      </p:sp>
      <p:sp>
        <p:nvSpPr>
          <p:cNvPr id="14" name="Text 11"/>
          <p:cNvSpPr txBox="1"/>
          <p:nvPr/>
        </p:nvSpPr>
        <p:spPr>
          <a:xfrm>
            <a:off x="8174736" y="4160520"/>
            <a:ext cx="3200400" cy="411480"/>
          </a:xfrm>
          <a:prstGeom prst="rect">
            <a:avLst/>
          </a:prstGeom>
          <a:noFill/>
          <a:ln/>
        </p:spPr>
        <p:txBody>
          <a:bodyPr wrap="square" lIns="0" tIns="0" rIns="0" bIns="0" rtlCol="0" anchor="t"/>
          <a:lstStyle/>
          <a:p>
            <a:pPr indent="0" marL="0">
              <a:buNone/>
            </a:pPr>
            <a:r>
              <a:rPr lang="en-US" sz="1900" b="1" dirty="0">
                <a:solidFill>
                  <a:schemeClr val="accent1"/>
                </a:solidFill>
              </a:rPr>
              <a:t>Protocolo de riesgo</a:t>
            </a:r>
            <a:endParaRPr lang="en-US" sz="1900" dirty="0"/>
          </a:p>
        </p:txBody>
      </p:sp>
      <p:sp>
        <p:nvSpPr>
          <p:cNvPr id="15" name="Text 12"/>
          <p:cNvSpPr txBox="1"/>
          <p:nvPr/>
        </p:nvSpPr>
        <p:spPr>
          <a:xfrm>
            <a:off x="8174736" y="4645152"/>
            <a:ext cx="3200400" cy="1188720"/>
          </a:xfrm>
          <a:prstGeom prst="rect">
            <a:avLst/>
          </a:prstGeom>
          <a:noFill/>
          <a:ln/>
        </p:spPr>
        <p:txBody>
          <a:bodyPr wrap="square" lIns="0" tIns="0" rIns="0" bIns="0" rtlCol="0" anchor="t"/>
          <a:lstStyle/>
          <a:p>
            <a:pPr indent="0" marL="0">
              <a:buNone/>
            </a:pPr>
            <a:r>
              <a:rPr lang="en-US" sz="1500" dirty="0">
                <a:solidFill>
                  <a:schemeClr val="tx1"/>
                </a:solidFill>
              </a:rPr>
              <a:t>Ante amenazas o grupos armados, no pregunta más, no guarda nada y muestra a dónde acudir.</a:t>
            </a:r>
            <a:endParaRPr lang="en-US" sz="150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5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97280"/>
          </a:xfrm>
          <a:prstGeom prst="rect">
            <a:avLst/>
          </a:prstGeom>
          <a:noFill/>
          <a:ln/>
        </p:spPr>
        <p:txBody>
          <a:bodyPr wrap="square" lIns="0" tIns="0" rIns="0" bIns="0" rtlCol="0" anchor="ctr"/>
          <a:lstStyle/>
          <a:p>
            <a:pPr algn="ctr" indent="0" marL="0">
              <a:buNone/>
            </a:pPr>
            <a:r>
              <a:rPr lang="en-US" sz="3000" b="1" dirty="0">
                <a:solidFill>
                  <a:schemeClr val="tx1"/>
                </a:solidFill>
              </a:rPr>
              <a:t>NADIE MÁS HACE EL CAMINO COMPLETO</a:t>
            </a:r>
            <a:endParaRPr lang="en-US" sz="3000" dirty="0"/>
          </a:p>
        </p:txBody>
      </p:sp>
      <p:sp>
        <p:nvSpPr>
          <p:cNvPr id="3" name="Text 1"/>
          <p:cNvSpPr txBox="1"/>
          <p:nvPr/>
        </p:nvSpPr>
        <p:spPr>
          <a:xfrm>
            <a:off x="548640" y="1554480"/>
            <a:ext cx="11091672" cy="457200"/>
          </a:xfrm>
          <a:prstGeom prst="rect">
            <a:avLst/>
          </a:prstGeom>
          <a:noFill/>
          <a:ln/>
        </p:spPr>
        <p:txBody>
          <a:bodyPr wrap="square" lIns="0" tIns="0" rIns="0" bIns="0" rtlCol="0" anchor="t"/>
          <a:lstStyle/>
          <a:p>
            <a:pPr algn="ctr" indent="0" marL="0">
              <a:buNone/>
            </a:pPr>
            <a:r>
              <a:rPr lang="en-US" sz="1800" dirty="0">
                <a:solidFill>
                  <a:schemeClr val="tx1"/>
                </a:solidFill>
              </a:rPr>
              <a:t>De 43 productos revisados en Colombia y el mundo, ninguno une orientación, documento, envío y seguimiento del plazo.</a:t>
            </a:r>
            <a:endParaRPr lang="en-US" sz="1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1672" cy="914400"/>
        </p:xfrm>
        <a:graphic>
          <a:graphicData uri="http://schemas.openxmlformats.org/drawingml/2006/table">
            <a:tbl>
              <a:tblPr/>
              <a:tblGrid>
                <a:gridCol w="2834640"/>
                <a:gridCol w="1325880"/>
                <a:gridCol w="1600200"/>
                <a:gridCol w="1280160"/>
                <a:gridCol w="1417320"/>
                <a:gridCol w="1280160"/>
                <a:gridCol w="1353312"/>
              </a:tblGrid>
              <a:tr h="530352">
                <a:tc>
                  <a:txBody>
                    <a:bodyPr/>
                    <a:lstStyle/>
                    <a:p>
                      <a:pPr algn="l" indent="0" marL="0">
                        <a:buNone/>
                      </a:pPr>
                      <a:r>
                        <a:rPr lang="en-US" sz="1400" b="1" dirty="0">
                          <a:solidFill>
                            <a:schemeClr val="bg2"/>
                          </a:solidFill>
                        </a:rPr>
                        <a:t>Producto</a:t>
                      </a:r>
                      <a:endParaRPr lang="en-US" sz="14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2"/>
                          </a:solidFill>
                        </a:rPr>
                        <a:t>Orienta</a:t>
                      </a:r>
                      <a:endParaRPr lang="en-US" sz="14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2"/>
                          </a:solidFill>
                        </a:rPr>
                        <a:t>Arma el documento</a:t>
                      </a:r>
                      <a:endParaRPr lang="en-US" sz="14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2"/>
                          </a:solidFill>
                        </a:rPr>
                        <a:t>Lo envía</a:t>
                      </a:r>
                      <a:endParaRPr lang="en-US" sz="14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2"/>
                          </a:solidFill>
                        </a:rPr>
                        <a:t>Sigue el plazo</a:t>
                      </a:r>
                      <a:endParaRPr lang="en-US" sz="14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2"/>
                          </a:solidFill>
                        </a:rPr>
                        <a:t>Sin internet</a:t>
                      </a:r>
                      <a:endParaRPr lang="en-US" sz="14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2"/>
                          </a:solidFill>
                        </a:rPr>
                        <a:t>Costo</a:t>
                      </a:r>
                      <a:endParaRPr lang="en-US" sz="14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accent1"/>
                    </a:solidFill>
                  </a:tcPr>
                </a:tc>
              </a:tr>
              <a:tr h="530352">
                <a:tc>
                  <a:txBody>
                    <a:bodyPr/>
                    <a:lstStyle/>
                    <a:p>
                      <a:pPr indent="0" marL="0">
                        <a:buNone/>
                      </a:pPr>
                      <a:r>
                        <a:rPr lang="en-US" sz="1600" b="1" dirty="0">
                          <a:solidFill>
                            <a:schemeClr val="tx1"/>
                          </a:solidFill>
                        </a:rPr>
                        <a:t>LegalApp (MinJusticia)</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Gratis</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r>
              <a:tr h="530352">
                <a:tc>
                  <a:txBody>
                    <a:bodyPr/>
                    <a:lstStyle/>
                    <a:p>
                      <a:pPr indent="0" marL="0">
                        <a:buNone/>
                      </a:pPr>
                      <a:r>
                        <a:rPr lang="en-US" sz="1600" b="1" dirty="0">
                          <a:solidFill>
                            <a:schemeClr val="tx1"/>
                          </a:solidFill>
                        </a:rPr>
                        <a:t>Tuteladora (ONG Temblores)</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Gratis</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r>
              <a:tr h="530352">
                <a:tc>
                  <a:txBody>
                    <a:bodyPr/>
                    <a:lstStyle/>
                    <a:p>
                      <a:pPr indent="0" marL="0">
                        <a:buNone/>
                      </a:pPr>
                      <a:r>
                        <a:rPr lang="en-US" sz="1600" b="1" dirty="0">
                          <a:solidFill>
                            <a:schemeClr val="tx1"/>
                          </a:solidFill>
                        </a:rPr>
                        <a:t>WAIAS (con abogados)</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$85.000</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bg1"/>
                    </a:solidFill>
                  </a:tcPr>
                </a:tc>
              </a:tr>
              <a:tr h="530352">
                <a:tc>
                  <a:txBody>
                    <a:bodyPr/>
                    <a:lstStyle/>
                    <a:p>
                      <a:pPr indent="0" marL="0">
                        <a:buNone/>
                      </a:pPr>
                      <a:r>
                        <a:rPr lang="en-US" sz="1600" b="1" dirty="0">
                          <a:solidFill>
                            <a:schemeClr val="accent1"/>
                          </a:solidFill>
                        </a:rPr>
                        <a:t>MiDerecho</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accent3"/>
                    </a:solidFill>
                  </a:tcPr>
                </a:tc>
                <a:tc>
                  <a:txBody>
                    <a:bodyPr/>
                    <a:lstStyle/>
                    <a:p>
                      <a:pPr algn="ctr" indent="0" marL="0">
                        <a:buNone/>
                      </a:pPr>
                      <a:r>
                        <a:rPr lang="en-US" sz="1600" b="1" dirty="0">
                          <a:solidFill>
                            <a:schemeClr val="accent1"/>
                          </a:solidFill>
                        </a:rPr>
                        <a:t>✓</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accent3"/>
                    </a:solidFill>
                  </a:tcPr>
                </a:tc>
                <a:tc>
                  <a:txBody>
                    <a:bodyPr/>
                    <a:lstStyle/>
                    <a:p>
                      <a:pPr algn="ctr" indent="0" marL="0">
                        <a:buNone/>
                      </a:pPr>
                      <a:r>
                        <a:rPr lang="en-US" sz="1600" b="1" dirty="0">
                          <a:solidFill>
                            <a:schemeClr val="accent1"/>
                          </a:solidFill>
                        </a:rPr>
                        <a:t>✓</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accent3"/>
                    </a:solidFill>
                  </a:tcPr>
                </a:tc>
                <a:tc>
                  <a:txBody>
                    <a:bodyPr/>
                    <a:lstStyle/>
                    <a:p>
                      <a:pPr algn="ctr" indent="0" marL="0">
                        <a:buNone/>
                      </a:pPr>
                      <a:r>
                        <a:rPr lang="en-US" sz="1600" b="1" dirty="0">
                          <a:solidFill>
                            <a:schemeClr val="accent1"/>
                          </a:solidFill>
                        </a:rPr>
                        <a:t>✓</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accent3"/>
                    </a:solidFill>
                  </a:tcPr>
                </a:tc>
                <a:tc>
                  <a:txBody>
                    <a:bodyPr/>
                    <a:lstStyle/>
                    <a:p>
                      <a:pPr algn="ctr" indent="0" marL="0">
                        <a:buNone/>
                      </a:pPr>
                      <a:r>
                        <a:rPr lang="en-US" sz="1600" b="1" dirty="0">
                          <a:solidFill>
                            <a:schemeClr val="accent1"/>
                          </a:solidFill>
                        </a:rPr>
                        <a:t>✓</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accent3"/>
                    </a:solidFill>
                  </a:tcPr>
                </a:tc>
                <a:tc>
                  <a:txBody>
                    <a:bodyPr/>
                    <a:lstStyle/>
                    <a:p>
                      <a:pPr algn="ctr" indent="0" marL="0">
                        <a:buNone/>
                      </a:pPr>
                      <a:r>
                        <a:rPr lang="en-US" sz="1600" b="1" dirty="0">
                          <a:solidFill>
                            <a:schemeClr val="accent1"/>
                          </a:solidFill>
                        </a:rPr>
                        <a:t>✓</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accent3"/>
                    </a:solidFill>
                  </a:tcPr>
                </a:tc>
                <a:tc>
                  <a:txBody>
                    <a:bodyPr/>
                    <a:lstStyle/>
                    <a:p>
                      <a:pPr algn="ctr" indent="0" marL="0">
                        <a:buNone/>
                      </a:pPr>
                      <a:r>
                        <a:rPr lang="en-US" sz="1600" b="1" dirty="0">
                          <a:solidFill>
                            <a:schemeClr val="accent1"/>
                          </a:solidFill>
                        </a:rPr>
                        <a:t>Gratis</a:t>
                      </a:r>
                      <a:endParaRPr lang="en-US" sz="1600" dirty="0"/>
                    </a:p>
                  </a:txBody>
                  <a:tcPr marL="73152" marR="73152" marT="73152" marB="73152" anchor="ctr">
                    <a:lnL w="12700" cap="flat" cmpd="sng" algn="ctr">
                      <a:solidFill>
                        <a:srgbClr val="E4DCCB"/>
                      </a:solidFill>
                      <a:prstDash val="solid"/>
                      <a:round/>
                      <a:headEnd type="none" w="med" len="med"/>
                      <a:tailEnd type="none" w="med" len="med"/>
                    </a:lnL>
                    <a:lnR w="12700" cap="flat" cmpd="sng" algn="ctr">
                      <a:solidFill>
                        <a:srgbClr val="E4DCCB"/>
                      </a:solidFill>
                      <a:prstDash val="solid"/>
                      <a:round/>
                      <a:headEnd type="none" w="med" len="med"/>
                      <a:tailEnd type="none" w="med" len="med"/>
                    </a:lnR>
                    <a:lnT w="12700" cap="flat" cmpd="sng" algn="ctr">
                      <a:solidFill>
                        <a:srgbClr val="E4DCCB"/>
                      </a:solidFill>
                      <a:prstDash val="solid"/>
                      <a:round/>
                      <a:headEnd type="none" w="med" len="med"/>
                      <a:tailEnd type="none" w="med" len="med"/>
                    </a:lnT>
                    <a:lnB w="12700" cap="flat" cmpd="sng" algn="ctr">
                      <a:solidFill>
                        <a:srgbClr val="E4DCCB"/>
                      </a:solidFill>
                      <a:prstDash val="solid"/>
                      <a:round/>
                      <a:headEnd type="none" w="med" len="med"/>
                      <a:tailEnd type="none" w="med" len="med"/>
                    </a:lnB>
                    <a:solidFill>
                      <a:schemeClr val="accent3"/>
                    </a:solidFill>
                  </a:tcPr>
                </a:tc>
              </a:tr>
            </a:tbl>
          </a:graphicData>
        </a:graphic>
      </p:graphicFrame>
      <p:pic>
        <p:nvPicPr>
          <p:cNvPr id="5" name="Image 0" descr="Búho de MiDerecho (lupa)">    </p:cNvPr>
          <p:cNvPicPr>
            <a:picLocks noChangeAspect="1"/>
          </p:cNvPicPr>
          <p:nvPr/>
        </p:nvPicPr>
        <p:blipFill>
          <a:blip r:embed="rId1"/>
          <a:stretch>
            <a:fillRect/>
          </a:stretch>
        </p:blipFill>
        <p:spPr>
          <a:xfrm>
            <a:off x="640080" y="5120640"/>
            <a:ext cx="953665" cy="1234440"/>
          </a:xfrm>
          <a:prstGeom prst="rect">
            <a:avLst/>
          </a:prstGeom>
        </p:spPr>
      </p:pic>
      <p:sp>
        <p:nvSpPr>
          <p:cNvPr id="6" name="Text 2"/>
          <p:cNvSpPr txBox="1"/>
          <p:nvPr/>
        </p:nvSpPr>
        <p:spPr>
          <a:xfrm>
            <a:off x="1783080" y="5166360"/>
            <a:ext cx="9784080" cy="914400"/>
          </a:xfrm>
          <a:prstGeom prst="rect">
            <a:avLst/>
          </a:prstGeom>
          <a:noFill/>
          <a:ln/>
        </p:spPr>
        <p:txBody>
          <a:bodyPr wrap="square" lIns="0" tIns="0" rIns="0" bIns="0" rtlCol="0" anchor="ctr"/>
          <a:lstStyle/>
          <a:p>
            <a:pPr indent="0" marL="0">
              <a:buNone/>
            </a:pPr>
            <a:r>
              <a:rPr lang="en-US" sz="1700" i="1" dirty="0">
                <a:solidFill>
                  <a:schemeClr val="accent2"/>
                </a:solidFill>
              </a:rPr>
              <a:t>LegalApp intentó ser una app para todos y quedó sin actualizar desde 2019. MiDerecho es la herramienta de quien la comunidad ya busca cuando tiene un problema: su líder.</a:t>
            </a:r>
            <a:endParaRPr lang="en-US" sz="170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5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97280"/>
          </a:xfrm>
          <a:prstGeom prst="rect">
            <a:avLst/>
          </a:prstGeom>
          <a:noFill/>
          <a:ln/>
        </p:spPr>
        <p:txBody>
          <a:bodyPr wrap="square" lIns="0" tIns="0" rIns="0" bIns="0" rtlCol="0" anchor="ctr"/>
          <a:lstStyle/>
          <a:p>
            <a:pPr algn="ctr" indent="0" marL="0">
              <a:buNone/>
            </a:pPr>
            <a:r>
              <a:rPr lang="en-US" sz="3000" b="1" dirty="0">
                <a:solidFill>
                  <a:schemeClr val="tx1"/>
                </a:solidFill>
              </a:rPr>
              <a:t>LLEGA DE LA MANO DE LOS LÍDERES</a:t>
            </a:r>
            <a:endParaRPr lang="en-US" sz="3000" dirty="0"/>
          </a:p>
        </p:txBody>
      </p:sp>
      <p:sp>
        <p:nvSpPr>
          <p:cNvPr id="3" name="Text 1"/>
          <p:cNvSpPr txBox="1"/>
          <p:nvPr/>
        </p:nvSpPr>
        <p:spPr>
          <a:xfrm>
            <a:off x="548640" y="1691640"/>
            <a:ext cx="5029200" cy="1097280"/>
          </a:xfrm>
          <a:prstGeom prst="rect">
            <a:avLst/>
          </a:prstGeom>
          <a:noFill/>
          <a:ln/>
        </p:spPr>
        <p:txBody>
          <a:bodyPr wrap="square" lIns="0" tIns="0" rIns="0" bIns="0" rtlCol="0" anchor="t"/>
          <a:lstStyle/>
          <a:p>
            <a:pPr indent="0" marL="0">
              <a:buNone/>
            </a:pPr>
            <a:r>
              <a:rPr lang="en-US" sz="1800" dirty="0">
                <a:solidFill>
                  <a:schemeClr val="tx1"/>
                </a:solidFill>
              </a:rPr>
              <a:t>La persona líder abre MiDerecho con el vecino al lado. El vecino decide y da el consentimiento; el líder no guarda listas.</a:t>
            </a:r>
            <a:endParaRPr lang="en-US" sz="1800" dirty="0"/>
          </a:p>
        </p:txBody>
      </p:sp>
      <p:sp>
        <p:nvSpPr>
          <p:cNvPr id="4" name="Text 2"/>
          <p:cNvSpPr txBox="1"/>
          <p:nvPr/>
        </p:nvSpPr>
        <p:spPr>
          <a:xfrm>
            <a:off x="548640" y="2926080"/>
            <a:ext cx="5029200" cy="30175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Marca colectiva: «Promotores de derechos de la vereda». El rostro del líder es opcional, por seguridad.</a:t>
            </a:r>
            <a:endParaRPr lang="en-US" sz="1600" dirty="0"/>
          </a:p>
          <a:p>
            <a:pPr marL="228600" indent="-228600">
              <a:spcAft>
                <a:spcPts val="1000"/>
              </a:spcAft>
              <a:buSzPct val="100000"/>
              <a:buChar char="•"/>
            </a:pPr>
            <a:r>
              <a:rPr lang="en-US" sz="1600" dirty="0">
                <a:solidFill>
                  <a:schemeClr val="tx1"/>
                </a:solidFill>
              </a:rPr>
              <a:t>Incentivo por caso cerrado y reconocimiento con la Personería o una universidad.</a:t>
            </a:r>
            <a:endParaRPr lang="en-US" sz="1600" dirty="0"/>
          </a:p>
          <a:p>
            <a:pPr marL="228600" indent="-228600">
              <a:spcAft>
                <a:spcPts val="1000"/>
              </a:spcAft>
              <a:buSzPct val="100000"/>
              <a:buChar char="•"/>
            </a:pPr>
            <a:r>
              <a:rPr lang="en-US" sz="1600" dirty="0">
                <a:solidFill>
                  <a:schemeClr val="tx1"/>
                </a:solidFill>
              </a:rPr>
              <a:t>Piloto sugerido: Montes de María, Sur del Tolima o Macarena-Guaviare.</a:t>
            </a:r>
            <a:endParaRPr lang="en-US" sz="1600" dirty="0"/>
          </a:p>
        </p:txBody>
      </p:sp>
      <p:sp>
        <p:nvSpPr>
          <p:cNvPr id="5" name="Text 3"/>
          <p:cNvSpPr txBox="1"/>
          <p:nvPr/>
        </p:nvSpPr>
        <p:spPr>
          <a:xfrm>
            <a:off x="5989320" y="1691640"/>
            <a:ext cx="5486400" cy="274320"/>
          </a:xfrm>
          <a:prstGeom prst="rect">
            <a:avLst/>
          </a:prstGeom>
          <a:noFill/>
          <a:ln/>
        </p:spPr>
        <p:txBody>
          <a:bodyPr wrap="square" lIns="0" tIns="0" rIns="0" bIns="0" rtlCol="0" anchor="t"/>
          <a:lstStyle/>
          <a:p>
            <a:pPr indent="0" marL="0">
              <a:buNone/>
            </a:pPr>
            <a:r>
              <a:rPr lang="en-US" sz="1300" b="1" spc="100" kern="0" dirty="0">
                <a:solidFill>
                  <a:schemeClr val="accent2"/>
                </a:solidFill>
              </a:rPr>
              <a:t>KIT PARA LÍDERES</a:t>
            </a:r>
            <a:endParaRPr lang="en-US" sz="1300" dirty="0"/>
          </a:p>
        </p:txBody>
      </p:sp>
      <p:sp>
        <p:nvSpPr>
          <p:cNvPr id="6" name="Shape 4"/>
          <p:cNvSpPr/>
          <p:nvPr/>
        </p:nvSpPr>
        <p:spPr>
          <a:xfrm>
            <a:off x="5989320" y="2103120"/>
            <a:ext cx="1755648" cy="1298448"/>
          </a:xfrm>
          <a:prstGeom prst="roundRect">
            <a:avLst>
              <a:gd name="adj" fmla="val 12676"/>
            </a:avLst>
          </a:prstGeom>
          <a:solidFill>
            <a:schemeClr val="accent3"/>
          </a:solidFill>
          <a:ln/>
        </p:spPr>
      </p:sp>
      <p:sp>
        <p:nvSpPr>
          <p:cNvPr id="7" name="Text 5"/>
          <p:cNvSpPr txBox="1"/>
          <p:nvPr/>
        </p:nvSpPr>
        <p:spPr>
          <a:xfrm>
            <a:off x="6126480" y="2103120"/>
            <a:ext cx="1481328" cy="1298448"/>
          </a:xfrm>
          <a:prstGeom prst="rect">
            <a:avLst/>
          </a:prstGeom>
          <a:noFill/>
          <a:ln/>
        </p:spPr>
        <p:txBody>
          <a:bodyPr wrap="square" lIns="0" tIns="0" rIns="0" bIns="0" rtlCol="0" anchor="ctr"/>
          <a:lstStyle/>
          <a:p>
            <a:pPr algn="ctr" indent="0" marL="0">
              <a:buNone/>
            </a:pPr>
            <a:r>
              <a:rPr lang="en-US" sz="1500" b="1" dirty="0">
                <a:solidFill>
                  <a:schemeClr val="accent1"/>
                </a:solidFill>
              </a:rPr>
              <a:t>Credencial con código QR</a:t>
            </a:r>
            <a:endParaRPr lang="en-US" sz="1500" dirty="0"/>
          </a:p>
        </p:txBody>
      </p:sp>
      <p:sp>
        <p:nvSpPr>
          <p:cNvPr id="8" name="Shape 6"/>
          <p:cNvSpPr/>
          <p:nvPr/>
        </p:nvSpPr>
        <p:spPr>
          <a:xfrm>
            <a:off x="7882128" y="2103120"/>
            <a:ext cx="1755648" cy="1298448"/>
          </a:xfrm>
          <a:prstGeom prst="roundRect">
            <a:avLst>
              <a:gd name="adj" fmla="val 12676"/>
            </a:avLst>
          </a:prstGeom>
          <a:solidFill>
            <a:schemeClr val="accent3"/>
          </a:solidFill>
          <a:ln/>
        </p:spPr>
      </p:sp>
      <p:sp>
        <p:nvSpPr>
          <p:cNvPr id="9" name="Text 7"/>
          <p:cNvSpPr txBox="1"/>
          <p:nvPr/>
        </p:nvSpPr>
        <p:spPr>
          <a:xfrm>
            <a:off x="8019288" y="2103120"/>
            <a:ext cx="1481328" cy="1298448"/>
          </a:xfrm>
          <a:prstGeom prst="rect">
            <a:avLst/>
          </a:prstGeom>
          <a:noFill/>
          <a:ln/>
        </p:spPr>
        <p:txBody>
          <a:bodyPr wrap="square" lIns="0" tIns="0" rIns="0" bIns="0" rtlCol="0" anchor="ctr"/>
          <a:lstStyle/>
          <a:p>
            <a:pPr algn="ctr" indent="0" marL="0">
              <a:buNone/>
            </a:pPr>
            <a:r>
              <a:rPr lang="en-US" sz="1500" b="1" dirty="0">
                <a:solidFill>
                  <a:schemeClr val="accent1"/>
                </a:solidFill>
              </a:rPr>
              <a:t>Volante con pictogramas</a:t>
            </a:r>
            <a:endParaRPr lang="en-US" sz="1500" dirty="0"/>
          </a:p>
        </p:txBody>
      </p:sp>
      <p:sp>
        <p:nvSpPr>
          <p:cNvPr id="10" name="Shape 8"/>
          <p:cNvSpPr/>
          <p:nvPr/>
        </p:nvSpPr>
        <p:spPr>
          <a:xfrm>
            <a:off x="9774936" y="2103120"/>
            <a:ext cx="1755648" cy="1298448"/>
          </a:xfrm>
          <a:prstGeom prst="roundRect">
            <a:avLst>
              <a:gd name="adj" fmla="val 12676"/>
            </a:avLst>
          </a:prstGeom>
          <a:solidFill>
            <a:schemeClr val="accent3"/>
          </a:solidFill>
          <a:ln/>
        </p:spPr>
      </p:sp>
      <p:sp>
        <p:nvSpPr>
          <p:cNvPr id="11" name="Text 9"/>
          <p:cNvSpPr txBox="1"/>
          <p:nvPr/>
        </p:nvSpPr>
        <p:spPr>
          <a:xfrm>
            <a:off x="9912096" y="2103120"/>
            <a:ext cx="1481328" cy="1298448"/>
          </a:xfrm>
          <a:prstGeom prst="rect">
            <a:avLst/>
          </a:prstGeom>
          <a:noFill/>
          <a:ln/>
        </p:spPr>
        <p:txBody>
          <a:bodyPr wrap="square" lIns="0" tIns="0" rIns="0" bIns="0" rtlCol="0" anchor="ctr"/>
          <a:lstStyle/>
          <a:p>
            <a:pPr algn="ctr" indent="0" marL="0">
              <a:buNone/>
            </a:pPr>
            <a:r>
              <a:rPr lang="en-US" sz="1500" b="1" dirty="0">
                <a:solidFill>
                  <a:schemeClr val="accent1"/>
                </a:solidFill>
              </a:rPr>
              <a:t>Tarjeta de plazos</a:t>
            </a:r>
            <a:endParaRPr lang="en-US" sz="1500" dirty="0"/>
          </a:p>
        </p:txBody>
      </p:sp>
      <p:sp>
        <p:nvSpPr>
          <p:cNvPr id="12" name="Shape 10"/>
          <p:cNvSpPr/>
          <p:nvPr/>
        </p:nvSpPr>
        <p:spPr>
          <a:xfrm>
            <a:off x="5989320" y="3566160"/>
            <a:ext cx="1755648" cy="1298448"/>
          </a:xfrm>
          <a:prstGeom prst="roundRect">
            <a:avLst>
              <a:gd name="adj" fmla="val 12676"/>
            </a:avLst>
          </a:prstGeom>
          <a:solidFill>
            <a:schemeClr val="accent3"/>
          </a:solidFill>
          <a:ln/>
        </p:spPr>
      </p:sp>
      <p:sp>
        <p:nvSpPr>
          <p:cNvPr id="13" name="Text 11"/>
          <p:cNvSpPr txBox="1"/>
          <p:nvPr/>
        </p:nvSpPr>
        <p:spPr>
          <a:xfrm>
            <a:off x="6126480" y="3566160"/>
            <a:ext cx="1481328" cy="1298448"/>
          </a:xfrm>
          <a:prstGeom prst="rect">
            <a:avLst/>
          </a:prstGeom>
          <a:noFill/>
          <a:ln/>
        </p:spPr>
        <p:txBody>
          <a:bodyPr wrap="square" lIns="0" tIns="0" rIns="0" bIns="0" rtlCol="0" anchor="ctr"/>
          <a:lstStyle/>
          <a:p>
            <a:pPr algn="ctr" indent="0" marL="0">
              <a:buNone/>
            </a:pPr>
            <a:r>
              <a:rPr lang="en-US" sz="1500" b="1" dirty="0">
                <a:solidFill>
                  <a:schemeClr val="accent1"/>
                </a:solidFill>
              </a:rPr>
              <a:t>Audios para grupos de WhatsApp</a:t>
            </a:r>
            <a:endParaRPr lang="en-US" sz="1500" dirty="0"/>
          </a:p>
        </p:txBody>
      </p:sp>
      <p:sp>
        <p:nvSpPr>
          <p:cNvPr id="14" name="Shape 12"/>
          <p:cNvSpPr/>
          <p:nvPr/>
        </p:nvSpPr>
        <p:spPr>
          <a:xfrm>
            <a:off x="7882128" y="3566160"/>
            <a:ext cx="1755648" cy="1298448"/>
          </a:xfrm>
          <a:prstGeom prst="roundRect">
            <a:avLst>
              <a:gd name="adj" fmla="val 12676"/>
            </a:avLst>
          </a:prstGeom>
          <a:solidFill>
            <a:schemeClr val="accent3"/>
          </a:solidFill>
          <a:ln/>
        </p:spPr>
      </p:sp>
      <p:sp>
        <p:nvSpPr>
          <p:cNvPr id="15" name="Text 13"/>
          <p:cNvSpPr txBox="1"/>
          <p:nvPr/>
        </p:nvSpPr>
        <p:spPr>
          <a:xfrm>
            <a:off x="8019288" y="3566160"/>
            <a:ext cx="1481328" cy="1298448"/>
          </a:xfrm>
          <a:prstGeom prst="rect">
            <a:avLst/>
          </a:prstGeom>
          <a:noFill/>
          <a:ln/>
        </p:spPr>
        <p:txBody>
          <a:bodyPr wrap="square" lIns="0" tIns="0" rIns="0" bIns="0" rtlCol="0" anchor="ctr"/>
          <a:lstStyle/>
          <a:p>
            <a:pPr algn="ctr" indent="0" marL="0">
              <a:buNone/>
            </a:pPr>
            <a:r>
              <a:rPr lang="en-US" sz="1500" b="1" dirty="0">
                <a:solidFill>
                  <a:schemeClr val="accent1"/>
                </a:solidFill>
              </a:rPr>
              <a:t>Guion de radio de 30 segundos</a:t>
            </a:r>
            <a:endParaRPr lang="en-US" sz="1500" dirty="0"/>
          </a:p>
        </p:txBody>
      </p:sp>
      <p:sp>
        <p:nvSpPr>
          <p:cNvPr id="16" name="Shape 14"/>
          <p:cNvSpPr/>
          <p:nvPr/>
        </p:nvSpPr>
        <p:spPr>
          <a:xfrm>
            <a:off x="9774936" y="3566160"/>
            <a:ext cx="1755648" cy="1298448"/>
          </a:xfrm>
          <a:prstGeom prst="roundRect">
            <a:avLst>
              <a:gd name="adj" fmla="val 12676"/>
            </a:avLst>
          </a:prstGeom>
          <a:solidFill>
            <a:schemeClr val="accent3"/>
          </a:solidFill>
          <a:ln/>
        </p:spPr>
      </p:sp>
      <p:sp>
        <p:nvSpPr>
          <p:cNvPr id="17" name="Text 15"/>
          <p:cNvSpPr txBox="1"/>
          <p:nvPr/>
        </p:nvSpPr>
        <p:spPr>
          <a:xfrm>
            <a:off x="9912096" y="3566160"/>
            <a:ext cx="1481328" cy="1298448"/>
          </a:xfrm>
          <a:prstGeom prst="rect">
            <a:avLst/>
          </a:prstGeom>
          <a:noFill/>
          <a:ln/>
        </p:spPr>
        <p:txBody>
          <a:bodyPr wrap="square" lIns="0" tIns="0" rIns="0" bIns="0" rtlCol="0" anchor="ctr"/>
          <a:lstStyle/>
          <a:p>
            <a:pPr algn="ctr" indent="0" marL="0">
              <a:buNone/>
            </a:pPr>
            <a:r>
              <a:rPr lang="en-US" sz="1500" b="1" dirty="0">
                <a:solidFill>
                  <a:schemeClr val="accent1"/>
                </a:solidFill>
              </a:rPr>
              <a:t>Protocolo de seguridad de una hoja</a:t>
            </a:r>
            <a:endParaRPr lang="en-US" sz="1500" dirty="0"/>
          </a:p>
        </p:txBody>
      </p:sp>
      <p:pic>
        <p:nvPicPr>
          <p:cNvPr id="18" name="Image 0" descr="Búho de MiDerecho (corazon)">    </p:cNvPr>
          <p:cNvPicPr>
            <a:picLocks noChangeAspect="1"/>
          </p:cNvPicPr>
          <p:nvPr/>
        </p:nvPicPr>
        <p:blipFill>
          <a:blip r:embed="rId1"/>
          <a:stretch>
            <a:fillRect/>
          </a:stretch>
        </p:blipFill>
        <p:spPr>
          <a:xfrm>
            <a:off x="10469880" y="5029200"/>
            <a:ext cx="1252330" cy="1371600"/>
          </a:xfrm>
          <a:prstGeom prst="rect">
            <a:avLst/>
          </a:prstGeom>
        </p:spPr>
      </p:pic>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5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97280"/>
          </a:xfrm>
          <a:prstGeom prst="rect">
            <a:avLst/>
          </a:prstGeom>
          <a:noFill/>
          <a:ln/>
        </p:spPr>
        <p:txBody>
          <a:bodyPr wrap="square" lIns="0" tIns="0" rIns="0" bIns="0" rtlCol="0" anchor="ctr"/>
          <a:lstStyle/>
          <a:p>
            <a:pPr algn="ctr" indent="0" marL="0">
              <a:buNone/>
            </a:pPr>
            <a:r>
              <a:rPr lang="en-US" sz="3000" b="1" dirty="0">
                <a:solidFill>
                  <a:schemeClr val="tx1"/>
                </a:solidFill>
              </a:rPr>
              <a:t>EL CAMPESINO NO PAGA</a:t>
            </a:r>
            <a:endParaRPr lang="en-US" sz="3000" dirty="0"/>
          </a:p>
        </p:txBody>
      </p:sp>
      <p:sp>
        <p:nvSpPr>
          <p:cNvPr id="3" name="Shape 1"/>
          <p:cNvSpPr/>
          <p:nvPr/>
        </p:nvSpPr>
        <p:spPr>
          <a:xfrm>
            <a:off x="548640" y="1691640"/>
            <a:ext cx="3520440" cy="2148840"/>
          </a:xfrm>
          <a:prstGeom prst="roundRect">
            <a:avLst>
              <a:gd name="adj" fmla="val 7660"/>
            </a:avLst>
          </a:prstGeom>
          <a:solidFill>
            <a:schemeClr val="bg1"/>
          </a:solidFill>
          <a:ln/>
          <a:effectLst>
            <a:outerShdw sx="100000" sy="100000" kx="0" ky="0" algn="bl" rotWithShape="0" blurRad="101600" dist="25400" dir="5400000">
              <a:srgbClr val="264933">
                <a:alpha val="14000"/>
              </a:srgbClr>
            </a:outerShdw>
          </a:effectLst>
        </p:spPr>
      </p:sp>
      <p:sp>
        <p:nvSpPr>
          <p:cNvPr id="4" name="Text 2"/>
          <p:cNvSpPr txBox="1"/>
          <p:nvPr/>
        </p:nvSpPr>
        <p:spPr>
          <a:xfrm>
            <a:off x="822960" y="1874520"/>
            <a:ext cx="2971800" cy="731520"/>
          </a:xfrm>
          <a:prstGeom prst="rect">
            <a:avLst/>
          </a:prstGeom>
          <a:noFill/>
          <a:ln/>
        </p:spPr>
        <p:txBody>
          <a:bodyPr wrap="square" lIns="0" tIns="0" rIns="0" bIns="0" rtlCol="0" anchor="ctr"/>
          <a:lstStyle/>
          <a:p>
            <a:pPr indent="0" marL="0">
              <a:buNone/>
            </a:pPr>
            <a:r>
              <a:rPr lang="en-US" sz="3400" b="1" dirty="0">
                <a:solidFill>
                  <a:schemeClr val="accent1"/>
                </a:solidFill>
              </a:rPr>
              <a:t>$0</a:t>
            </a:r>
            <a:endParaRPr lang="en-US" sz="3400" dirty="0"/>
          </a:p>
        </p:txBody>
      </p:sp>
      <p:sp>
        <p:nvSpPr>
          <p:cNvPr id="5" name="Text 3"/>
          <p:cNvSpPr txBox="1"/>
          <p:nvPr/>
        </p:nvSpPr>
        <p:spPr>
          <a:xfrm>
            <a:off x="822960" y="2697480"/>
            <a:ext cx="2971800" cy="1005840"/>
          </a:xfrm>
          <a:prstGeom prst="rect">
            <a:avLst/>
          </a:prstGeom>
          <a:noFill/>
          <a:ln/>
        </p:spPr>
        <p:txBody>
          <a:bodyPr wrap="square" lIns="0" tIns="0" rIns="0" bIns="0" rtlCol="0" anchor="t"/>
          <a:lstStyle/>
          <a:p>
            <a:pPr indent="0" marL="0">
              <a:buNone/>
            </a:pPr>
            <a:r>
              <a:rPr lang="en-US" sz="1600" dirty="0">
                <a:solidFill>
                  <a:schemeClr val="tx1"/>
                </a:solidFill>
              </a:rPr>
              <a:t>para la persona que usa MiDerecho</a:t>
            </a:r>
            <a:endParaRPr lang="en-US" sz="1600" dirty="0"/>
          </a:p>
        </p:txBody>
      </p:sp>
      <p:sp>
        <p:nvSpPr>
          <p:cNvPr id="6" name="Shape 4"/>
          <p:cNvSpPr/>
          <p:nvPr/>
        </p:nvSpPr>
        <p:spPr>
          <a:xfrm>
            <a:off x="4334256" y="1691640"/>
            <a:ext cx="3520440" cy="2148840"/>
          </a:xfrm>
          <a:prstGeom prst="roundRect">
            <a:avLst>
              <a:gd name="adj" fmla="val 7660"/>
            </a:avLst>
          </a:prstGeom>
          <a:solidFill>
            <a:schemeClr val="bg1"/>
          </a:solidFill>
          <a:ln/>
          <a:effectLst>
            <a:outerShdw sx="100000" sy="100000" kx="0" ky="0" algn="bl" rotWithShape="0" blurRad="101600" dist="25400" dir="5400000">
              <a:srgbClr val="264933">
                <a:alpha val="14000"/>
              </a:srgbClr>
            </a:outerShdw>
          </a:effectLst>
        </p:spPr>
      </p:sp>
      <p:sp>
        <p:nvSpPr>
          <p:cNvPr id="7" name="Text 5"/>
          <p:cNvSpPr txBox="1"/>
          <p:nvPr/>
        </p:nvSpPr>
        <p:spPr>
          <a:xfrm>
            <a:off x="4608576" y="1874520"/>
            <a:ext cx="2971800" cy="731520"/>
          </a:xfrm>
          <a:prstGeom prst="rect">
            <a:avLst/>
          </a:prstGeom>
          <a:noFill/>
          <a:ln/>
        </p:spPr>
        <p:txBody>
          <a:bodyPr wrap="square" lIns="0" tIns="0" rIns="0" bIns="0" rtlCol="0" anchor="ctr"/>
          <a:lstStyle/>
          <a:p>
            <a:pPr indent="0" marL="0">
              <a:buNone/>
            </a:pPr>
            <a:r>
              <a:rPr lang="en-US" sz="3400" b="1" dirty="0">
                <a:solidFill>
                  <a:schemeClr val="accent1"/>
                </a:solidFill>
              </a:rPr>
              <a:t>$29 millones</a:t>
            </a:r>
            <a:endParaRPr lang="en-US" sz="3400" dirty="0"/>
          </a:p>
        </p:txBody>
      </p:sp>
      <p:sp>
        <p:nvSpPr>
          <p:cNvPr id="8" name="Text 6"/>
          <p:cNvSpPr txBox="1"/>
          <p:nvPr/>
        </p:nvSpPr>
        <p:spPr>
          <a:xfrm>
            <a:off x="4608576" y="2697480"/>
            <a:ext cx="2971800" cy="1005840"/>
          </a:xfrm>
          <a:prstGeom prst="rect">
            <a:avLst/>
          </a:prstGeom>
          <a:noFill/>
          <a:ln/>
        </p:spPr>
        <p:txBody>
          <a:bodyPr wrap="square" lIns="0" tIns="0" rIns="0" bIns="0" rtlCol="0" anchor="t"/>
          <a:lstStyle/>
          <a:p>
            <a:pPr indent="0" marL="0">
              <a:buNone/>
            </a:pPr>
            <a:r>
              <a:rPr lang="en-US" sz="1600" dirty="0">
                <a:solidFill>
                  <a:schemeClr val="tx1"/>
                </a:solidFill>
              </a:rPr>
              <a:t>por municipio al año: licencia ($15 millones) y promotores ($14 millones)</a:t>
            </a:r>
            <a:endParaRPr lang="en-US" sz="1600" dirty="0"/>
          </a:p>
        </p:txBody>
      </p:sp>
      <p:sp>
        <p:nvSpPr>
          <p:cNvPr id="9" name="Shape 7"/>
          <p:cNvSpPr/>
          <p:nvPr/>
        </p:nvSpPr>
        <p:spPr>
          <a:xfrm>
            <a:off x="8119872" y="1691640"/>
            <a:ext cx="3520440" cy="2148840"/>
          </a:xfrm>
          <a:prstGeom prst="roundRect">
            <a:avLst>
              <a:gd name="adj" fmla="val 7660"/>
            </a:avLst>
          </a:prstGeom>
          <a:solidFill>
            <a:schemeClr val="bg1"/>
          </a:solidFill>
          <a:ln/>
          <a:effectLst>
            <a:outerShdw sx="100000" sy="100000" kx="0" ky="0" algn="bl" rotWithShape="0" blurRad="101600" dist="25400" dir="5400000">
              <a:srgbClr val="264933">
                <a:alpha val="14000"/>
              </a:srgbClr>
            </a:outerShdw>
          </a:effectLst>
        </p:spPr>
      </p:sp>
      <p:sp>
        <p:nvSpPr>
          <p:cNvPr id="10" name="Text 8"/>
          <p:cNvSpPr txBox="1"/>
          <p:nvPr/>
        </p:nvSpPr>
        <p:spPr>
          <a:xfrm>
            <a:off x="8394192" y="1874520"/>
            <a:ext cx="2971800" cy="731520"/>
          </a:xfrm>
          <a:prstGeom prst="rect">
            <a:avLst/>
          </a:prstGeom>
          <a:noFill/>
          <a:ln/>
        </p:spPr>
        <p:txBody>
          <a:bodyPr wrap="square" lIns="0" tIns="0" rIns="0" bIns="0" rtlCol="0" anchor="ctr"/>
          <a:lstStyle/>
          <a:p>
            <a:pPr indent="0" marL="0">
              <a:buNone/>
            </a:pPr>
            <a:r>
              <a:rPr lang="en-US" sz="3400" b="1" dirty="0">
                <a:solidFill>
                  <a:schemeClr val="accent1"/>
                </a:solidFill>
              </a:rPr>
              <a:t>$55-62 mil</a:t>
            </a:r>
            <a:endParaRPr lang="en-US" sz="3400" dirty="0"/>
          </a:p>
        </p:txBody>
      </p:sp>
      <p:sp>
        <p:nvSpPr>
          <p:cNvPr id="11" name="Text 9"/>
          <p:cNvSpPr txBox="1"/>
          <p:nvPr/>
        </p:nvSpPr>
        <p:spPr>
          <a:xfrm>
            <a:off x="8394192" y="2697480"/>
            <a:ext cx="2971800" cy="1005840"/>
          </a:xfrm>
          <a:prstGeom prst="rect">
            <a:avLst/>
          </a:prstGeom>
          <a:noFill/>
          <a:ln/>
        </p:spPr>
        <p:txBody>
          <a:bodyPr wrap="square" lIns="0" tIns="0" rIns="0" bIns="0" rtlCol="0" anchor="t"/>
          <a:lstStyle/>
          <a:p>
            <a:pPr indent="0" marL="0">
              <a:buNone/>
            </a:pPr>
            <a:r>
              <a:rPr lang="en-US" sz="1600" dirty="0">
                <a:solidFill>
                  <a:schemeClr val="tx1"/>
                </a:solidFill>
              </a:rPr>
              <a:t>por caso, frente a $85.000 de una consulta privada</a:t>
            </a:r>
            <a:endParaRPr lang="en-US" sz="1600" dirty="0"/>
          </a:p>
        </p:txBody>
      </p:sp>
      <p:sp>
        <p:nvSpPr>
          <p:cNvPr id="12" name="Text 10"/>
          <p:cNvSpPr txBox="1"/>
          <p:nvPr/>
        </p:nvSpPr>
        <p:spPr>
          <a:xfrm>
            <a:off x="548640" y="4206240"/>
            <a:ext cx="8961120" cy="1463040"/>
          </a:xfrm>
          <a:prstGeom prst="rect">
            <a:avLst/>
          </a:prstGeom>
          <a:noFill/>
          <a:ln/>
        </p:spPr>
        <p:txBody>
          <a:bodyPr wrap="square" lIns="0" tIns="0" rIns="0" bIns="0" rtlCol="0" anchor="t"/>
          <a:lstStyle/>
          <a:p>
            <a:pPr indent="0" marL="0">
              <a:buNone/>
            </a:pPr>
            <a:r>
              <a:rPr lang="en-US" sz="1800" b="1" dirty="0">
                <a:solidFill>
                  <a:schemeClr val="tx1"/>
                </a:solidFill>
              </a:rPr>
              <a:t>Paga el Estado: </a:t>
            </a:r>
            <a:pPr indent="0" marL="0">
              <a:buNone/>
            </a:pPr>
            <a:r>
              <a:rPr lang="en-US" sz="1800" dirty="0">
                <a:solidFill>
                  <a:schemeClr val="tx1"/>
                </a:solidFill>
              </a:rPr>
              <a:t>el Ministerio de Justicia (programa Sistemas Locales de Justicia), gobernaciones y alcaldías PDET, con la cooperación internacional como contrapartida. La Ley 2430 de 2024 pide llevar la justicia al campo «procurando el uso de las TIC».</a:t>
            </a:r>
            <a:endParaRPr lang="en-US" sz="1800" dirty="0"/>
          </a:p>
        </p:txBody>
      </p:sp>
      <p:pic>
        <p:nvPicPr>
          <p:cNvPr id="13" name="Image 0" descr="Búho de MiDerecho (documento)">    </p:cNvPr>
          <p:cNvPicPr>
            <a:picLocks noChangeAspect="1"/>
          </p:cNvPicPr>
          <p:nvPr/>
        </p:nvPicPr>
        <p:blipFill>
          <a:blip r:embed="rId1"/>
          <a:stretch>
            <a:fillRect/>
          </a:stretch>
        </p:blipFill>
        <p:spPr>
          <a:xfrm>
            <a:off x="10058400" y="3977640"/>
            <a:ext cx="1660045" cy="2011680"/>
          </a:xfrm>
          <a:prstGeom prst="rect">
            <a:avLst/>
          </a:prstGeom>
        </p:spPr>
      </p:pic>
      <p:sp>
        <p:nvSpPr>
          <p:cNvPr id="14" name="Text 11"/>
          <p:cNvSpPr txBox="1"/>
          <p:nvPr/>
        </p:nvSpPr>
        <p:spPr>
          <a:xfrm>
            <a:off x="548640" y="6263640"/>
            <a:ext cx="10424160" cy="320040"/>
          </a:xfrm>
          <a:prstGeom prst="rect">
            <a:avLst/>
          </a:prstGeom>
          <a:noFill/>
          <a:ln/>
        </p:spPr>
        <p:txBody>
          <a:bodyPr wrap="square" lIns="0" tIns="0" rIns="0" bIns="0" rtlCol="0" anchor="ctr"/>
          <a:lstStyle/>
          <a:p>
            <a:pPr indent="0" marL="0">
              <a:buNone/>
            </a:pPr>
            <a:r>
              <a:rPr lang="en-US" sz="1100" dirty="0">
                <a:solidFill>
                  <a:srgbClr val="6B675F"/>
                </a:solidFill>
              </a:rPr>
              <a:t>Pesos colombianos. Costos estimados por el equipo (informe ejecutivo, sección 12.4); se validan en el piloto.</a:t>
            </a:r>
            <a:endParaRPr lang="en-US" sz="1100" dirty="0"/>
          </a:p>
        </p:txBody>
      </p:sp>
      <p:sp>
        <p:nvSpPr>
          <p:cNvPr id="25" name="Slide Number Placeholder 0"/>
          <p:cNvSpPr>
            <a:spLocks noGrp="1"/>
          </p:cNvSpPr>
          <p:nvPr>
            <p:ph type="sldNum" sz="quarter" idx="4294967295"/>
          </p:nvPr>
        </p:nvSpPr>
        <p:spPr>
          <a:xfrm>
            <a:off x="112745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5F"/>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949440" cy="1828800"/>
          </a:xfrm>
          <a:prstGeom prst="rect">
            <a:avLst/>
          </a:prstGeom>
          <a:noFill/>
          <a:ln/>
        </p:spPr>
        <p:txBody>
          <a:bodyPr wrap="square" lIns="0" tIns="0" rIns="0" bIns="0" rtlCol="0" anchor="b"/>
          <a:lstStyle/>
          <a:p>
            <a:pPr algn="l" indent="0" marL="0">
              <a:buNone/>
            </a:pPr>
            <a:r>
              <a:rPr lang="en-US" sz="4400" b="1" dirty="0">
                <a:solidFill>
                  <a:schemeClr val="bg2"/>
                </a:solidFill>
              </a:rPr>
              <a:t>GRACIAS POR SU ATENCIÓN</a:t>
            </a:r>
            <a:endParaRPr lang="en-US" sz="4400" dirty="0"/>
          </a:p>
        </p:txBody>
      </p:sp>
      <p:sp>
        <p:nvSpPr>
          <p:cNvPr id="3" name="Text 1">
            <a:hlinkClick r:id="rId1" tooltip=""/>
          </p:cNvPr>
          <p:cNvSpPr txBox="1"/>
          <p:nvPr/>
        </p:nvSpPr>
        <p:spPr>
          <a:xfrm>
            <a:off x="731520" y="3566160"/>
            <a:ext cx="6949440" cy="548640"/>
          </a:xfrm>
          <a:prstGeom prst="rect">
            <a:avLst/>
          </a:prstGeom>
          <a:noFill/>
          <a:ln/>
        </p:spPr>
        <p:txBody>
          <a:bodyPr wrap="square" lIns="0" tIns="0" rIns="0" bIns="0" rtlCol="0" anchor="t"/>
          <a:lstStyle/>
          <a:p>
            <a:pPr indent="0" marL="0">
              <a:buNone/>
            </a:pPr>
            <a:r>
              <a:rPr lang="en-US" sz="2600" b="1" u="sng" dirty="0">
                <a:solidFill>
                  <a:schemeClr val="accent4"/>
                </a:solidFill>
                <a:hlinkClick r:id="rId1" invalidUrl="" action="" tgtFrame="" tooltip="" history="1" highlightClick="0" endSnd="0">
                  <a:extLst>
                    <a:ext uri="{A12FA001-AC4F-418D-AE19-62706E023703}">
                      <ahyp:hlinkClr xmlns:ahyp="http://schemas.microsoft.com/office/drawing/2018/hyperlinkcolor" val="tx"/>
                    </a:ext>
                  </a:extLst>
                </a:hlinkClick>
              </a:rPr>
              <a:t>Pruébela: miderecho-two.vercel.app</a:t>
            </a:r>
            <a:endParaRPr lang="en-US" sz="2600" dirty="0"/>
          </a:p>
        </p:txBody>
      </p:sp>
      <p:sp>
        <p:nvSpPr>
          <p:cNvPr id="4" name="Text 2"/>
          <p:cNvSpPr txBox="1"/>
          <p:nvPr/>
        </p:nvSpPr>
        <p:spPr>
          <a:xfrm>
            <a:off x="731520" y="4251960"/>
            <a:ext cx="6949440" cy="411480"/>
          </a:xfrm>
          <a:prstGeom prst="rect">
            <a:avLst/>
          </a:prstGeom>
          <a:noFill/>
          <a:ln/>
        </p:spPr>
        <p:txBody>
          <a:bodyPr wrap="square" lIns="0" tIns="0" rIns="0" bIns="0" rtlCol="0" anchor="t"/>
          <a:lstStyle/>
          <a:p>
            <a:pPr indent="0" marL="0">
              <a:buNone/>
            </a:pPr>
            <a:r>
              <a:rPr lang="en-US" sz="1700" dirty="0">
                <a:solidFill>
                  <a:schemeClr val="bg2"/>
                </a:solidFill>
              </a:rPr>
              <a:t>Valentina Quintero · Juan Diego Balanta · Juan José Gallego</a:t>
            </a:r>
            <a:endParaRPr lang="en-US" sz="1700" dirty="0"/>
          </a:p>
        </p:txBody>
      </p:sp>
      <p:pic>
        <p:nvPicPr>
          <p:cNvPr id="5" name="Image 0" descr="Búho de MiDerecho (corazon)">    </p:cNvPr>
          <p:cNvPicPr>
            <a:picLocks noChangeAspect="1"/>
          </p:cNvPicPr>
          <p:nvPr/>
        </p:nvPicPr>
        <p:blipFill>
          <a:blip r:embed="rId2"/>
          <a:stretch>
            <a:fillRect/>
          </a:stretch>
        </p:blipFill>
        <p:spPr>
          <a:xfrm>
            <a:off x="8229600" y="1554480"/>
            <a:ext cx="3590014" cy="3931920"/>
          </a:xfrm>
          <a:prstGeom prst="rect">
            <a:avLst/>
          </a:prstGeom>
        </p:spPr>
      </p:pic>
    </p:spTree>
  </p:cSld>
  <p:clrMapOvr>
    <a:masterClrMapping/>
  </p:clrMapOvr>
</p:sld>
</file>

<file path=ppt/theme/theme1.xml><?xml version="1.0" encoding="utf-8"?>
<a:theme xmlns:a="http://schemas.openxmlformats.org/drawingml/2006/main" name="MiDerecho">
  <a:themeElements>
    <a:clrScheme name="MiDerecho">
      <a:dk1>
        <a:srgbClr val="2B2A27"/>
      </a:dk1>
      <a:lt1>
        <a:srgbClr val="FFFFFF"/>
      </a:lt1>
      <a:dk2>
        <a:srgbClr val="264933"/>
      </a:dk2>
      <a:lt2>
        <a:srgbClr val="FFF5E4"/>
      </a:lt2>
      <a:accent1>
        <a:srgbClr val="264933"/>
      </a:accent1>
      <a:accent2>
        <a:srgbClr val="4F7A5A"/>
      </a:accent2>
      <a:accent3>
        <a:srgbClr val="E3EADC"/>
      </a:accent3>
      <a:accent4>
        <a:srgbClr val="E3C48F"/>
      </a:accent4>
      <a:accent5>
        <a:srgbClr val="3D3935"/>
      </a:accent5>
      <a:accent6>
        <a:srgbClr val="B3412E"/>
      </a:accent6>
      <a:hlink>
        <a:srgbClr val="264933"/>
      </a:hlink>
      <a:folHlink>
        <a:srgbClr val="4F7A5A"/>
      </a:folHlink>
    </a:clrScheme>
    <a:fontScheme name="MiDerecho">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MiDerecho: la justicia empieza por entender tus derechos</dc:title>
  <dc:subject>PptxGenJS Presentation</dc:subject>
  <dc:creator>Valentina Quintero, Juan Diego Balanta y Juan José Gallego</dc:creator>
  <cp:lastModifiedBy>Valentina Quintero, Juan Diego Balanta y Juan José Gallego</cp:lastModifiedBy>
  <cp:revision>1</cp:revision>
  <dcterms:created xsi:type="dcterms:W3CDTF">2026-10-21T17:46:16Z</dcterms:created>
  <dcterms:modified xsi:type="dcterms:W3CDTF">2026-10-21T17:46:16Z</dcterms:modified>
</cp:coreProperties>
</file>